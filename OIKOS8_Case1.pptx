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7" r:id="rId2"/>
    <p:sldId id="263" r:id="rId3"/>
    <p:sldId id="264" r:id="rId4"/>
    <p:sldId id="261" r:id="rId5"/>
    <p:sldId id="260" r:id="rId6"/>
    <p:sldId id="266" r:id="rId7"/>
    <p:sldId id="265" r:id="rId8"/>
    <p:sldId id="267" r:id="rId9"/>
    <p:sldId id="272" r:id="rId10"/>
    <p:sldId id="273" r:id="rId11"/>
    <p:sldId id="274" r:id="rId12"/>
    <p:sldId id="275" r:id="rId13"/>
    <p:sldId id="276" r:id="rId14"/>
    <p:sldId id="277" r:id="rId15"/>
    <p:sldId id="259" r:id="rId16"/>
    <p:sldId id="268" r:id="rId17"/>
    <p:sldId id="269" r:id="rId18"/>
    <p:sldId id="270" r:id="rId19"/>
    <p:sldId id="271" r:id="rId20"/>
    <p:sldId id="281" r:id="rId21"/>
    <p:sldId id="278" r:id="rId22"/>
    <p:sldId id="279" r:id="rId23"/>
    <p:sldId id="280" r:id="rId24"/>
    <p:sldId id="282" r:id="rId25"/>
    <p:sldId id="285" r:id="rId26"/>
    <p:sldId id="286" r:id="rId27"/>
    <p:sldId id="283" r:id="rId28"/>
    <p:sldId id="284" r:id="rId29"/>
    <p:sldId id="287" r:id="rId30"/>
    <p:sldId id="256" r:id="rId31"/>
    <p:sldId id="288" r:id="rId32"/>
    <p:sldId id="289" r:id="rId33"/>
    <p:sldId id="290" r:id="rId34"/>
    <p:sldId id="291" r:id="rId35"/>
    <p:sldId id="292" r:id="rId36"/>
    <p:sldId id="293" r:id="rId37"/>
    <p:sldId id="294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ECEC"/>
    <a:srgbClr val="AEAEAE"/>
    <a:srgbClr val="006C31"/>
    <a:srgbClr val="B30101"/>
    <a:srgbClr val="003300"/>
    <a:srgbClr val="4C0000"/>
    <a:srgbClr val="700000"/>
    <a:srgbClr val="760000"/>
    <a:srgbClr val="BA0202"/>
    <a:srgbClr val="FE0A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9" autoAdjust="0"/>
    <p:restoredTop sz="94660"/>
  </p:normalViewPr>
  <p:slideViewPr>
    <p:cSldViewPr snapToGrid="0">
      <p:cViewPr varScale="1">
        <p:scale>
          <a:sx n="92" d="100"/>
          <a:sy n="92" d="100"/>
        </p:scale>
        <p:origin x="56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ownloads\Auchan_Hungary_Customer_Financial_Mode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Impact</a:t>
            </a:r>
            <a:r>
              <a:rPr lang="en-US" baseline="0"/>
              <a:t> on QoC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'Հաճախորդների Վերլուծություն'!$C$16:$C$21</c:f>
              <c:numCache>
                <c:formatCode>0.0</c:formatCode>
                <c:ptCount val="6"/>
                <c:pt idx="0">
                  <c:v>7</c:v>
                </c:pt>
                <c:pt idx="1">
                  <c:v>4</c:v>
                </c:pt>
                <c:pt idx="2">
                  <c:v>12</c:v>
                </c:pt>
                <c:pt idx="3">
                  <c:v>6</c:v>
                </c:pt>
                <c:pt idx="4">
                  <c:v>3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98-40B2-BA2B-A05844539928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Ref>
              <c:f>'Հաճախորդների Վերլուծություն'!$E$16:$E$21</c:f>
              <c:numCache>
                <c:formatCode>0.0</c:formatCode>
                <c:ptCount val="6"/>
                <c:pt idx="0">
                  <c:v>7.3</c:v>
                </c:pt>
                <c:pt idx="1">
                  <c:v>6</c:v>
                </c:pt>
                <c:pt idx="2">
                  <c:v>13.2</c:v>
                </c:pt>
                <c:pt idx="3">
                  <c:v>7.8</c:v>
                </c:pt>
                <c:pt idx="4">
                  <c:v>3.6</c:v>
                </c:pt>
                <c:pt idx="5">
                  <c:v>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98-40B2-BA2B-A058445399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55215504"/>
        <c:axId val="1855217904"/>
      </c:barChart>
      <c:catAx>
        <c:axId val="18552155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5217904"/>
        <c:crosses val="autoZero"/>
        <c:auto val="1"/>
        <c:lblAlgn val="ctr"/>
        <c:lblOffset val="100"/>
        <c:noMultiLvlLbl val="0"/>
      </c:catAx>
      <c:valAx>
        <c:axId val="185521790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5215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B792A3-51CA-4466-817B-7C1A6CB6E727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FEDE23-381F-44DB-A5E1-23764A120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944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FEDE23-381F-44DB-A5E1-23764A12046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E3F9D-0E1D-3A15-52AE-C3D228D820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60F758-15F8-594B-0E7E-B5358DDC1A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6E38D-4562-C831-ABA3-6D36E9DBD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78585-396F-4074-B22A-110378C0F993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CCABF-6D4E-9D17-3A04-F63D868A4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3DCC2-8232-35A5-B6ED-BE253143F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A7293-F8BC-40CD-AD9D-EBDE26DD2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043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71B24-FCE2-EA8E-799E-97A15742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02514-7AAE-F8AE-38CF-25CF57308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4948A-C448-8350-14C6-F6A835403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78585-396F-4074-B22A-110378C0F993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2FF04-06C3-F7FF-7E48-CD4DA58CA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998EB-7B71-608E-30B0-40F8FB393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A7293-F8BC-40CD-AD9D-EBDE26DD2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38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31CA9-8DE2-0C80-23C0-ABB378C8F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0BC00-9A76-A1AE-5F5E-1FCC2FB37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58D86-44AA-5F8F-5B3B-94801102E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78585-396F-4074-B22A-110378C0F993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AF3C1-04A0-D535-B37F-D918FF5D3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D63E9-652B-16DB-993F-1BA87499C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A7293-F8BC-40CD-AD9D-EBDE26DD2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63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6F442-F5C5-544E-952A-E1303BDFA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9FEEB-EE18-51AF-1E6F-1BF099206A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C7D0C8-9F33-4495-8BC6-03C6C1969B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685021-29E5-6729-EF15-1375FF1FA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78585-396F-4074-B22A-110378C0F993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C20E95-B4E3-C5FD-8D03-270B387B4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6D5F4-63BE-A35C-E2FC-D3E1C2341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A7293-F8BC-40CD-AD9D-EBDE26DD2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47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3C0A8-6621-913D-CF1F-50F770649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0827B-9CA5-40DC-70CC-2774484E8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5C7D00-D627-306D-5BA4-BC0F509755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02775F-65DE-7AF7-591A-58F57A2F3C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A538AC-7110-CFBD-68D5-3CB65E624A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E9EF24-DF9A-710D-CAA2-081A2CB8B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78585-396F-4074-B22A-110378C0F993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3038ED-853C-5D1D-0CE2-78BD858DF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D71515-921E-147D-BAC9-6F598B5A9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A7293-F8BC-40CD-AD9D-EBDE26DD2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770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C8684-DB8D-A91E-938E-A79C4E540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0302E8-1B2B-1D29-F371-20F709DBE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78585-396F-4074-B22A-110378C0F993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F43DC3-E758-5F91-D0CA-600F509EF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65D-4A86-6234-2F75-75AE746E2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A7293-F8BC-40CD-AD9D-EBDE26DD2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146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52FBE0-2C56-AB9D-D0F4-F11DF070E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78585-396F-4074-B22A-110378C0F993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99A082-3C17-A84F-BFF0-87BEF0329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3843A-7FEE-BD24-65FD-A856D9A43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A7293-F8BC-40CD-AD9D-EBDE26DD2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235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49041-9E55-34A3-76A5-B7B87ADB9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DBC9C-A69C-1039-58B0-585ECFE26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249DAE-A796-E14F-608C-1B314E3A57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CF0C30-12F8-75D1-4F84-10EAC5DA6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78585-396F-4074-B22A-110378C0F993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D35988-84DB-8DB5-1DA6-6B3C7BF87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74DE28-73DE-4B2F-71E6-3CA28392E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A7293-F8BC-40CD-AD9D-EBDE26DD2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84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4262E-111D-77F8-E642-CDC9287DC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1D694D-9DD6-8E8F-F795-0E2F561837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B1A067-AB5A-9CD9-7BAA-D9B3B34BBC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A2F381-D692-30B9-B124-066AFF044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78585-396F-4074-B22A-110378C0F993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C0ABD1-E382-38A3-A553-12EB40693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7A046D-8992-FB97-4C61-AE2A9D08E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A7293-F8BC-40CD-AD9D-EBDE26DD2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191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0CFF8-2672-C5B7-F5B6-C49B7E971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8383EB-B50C-20A8-4DCB-D88C6FC499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45491-371F-9876-02E3-D615A0578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78585-396F-4074-B22A-110378C0F993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5CC60-196A-E211-9168-3FBBD6769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B4DEF-289C-9212-8683-A65F1B456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A7293-F8BC-40CD-AD9D-EBDE26DD2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899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223AF0-F5E8-5066-28C7-C51B5094CE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D64A06-29C8-9798-D70F-85DC991D4C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69643-767E-7CCE-4E01-1FF712103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78585-396F-4074-B22A-110378C0F993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B3379-6C0F-7DC7-D37C-783E3076A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35D5B-ED53-7ABE-3AF2-B6DEE6D5F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A7293-F8BC-40CD-AD9D-EBDE26DD2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780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EA5422-DC52-4F30-3DBB-DB9863E14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11E9B2-0018-49DE-8657-8C4E50035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B7EB0-0104-3355-8B74-0E7C762FA4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78585-396F-4074-B22A-110378C0F993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90B18-9EFA-CDD7-F372-2A5D21236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90DE3-A142-3D8B-572D-9BF39223D5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A7293-F8BC-40CD-AD9D-EBDE26DD2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4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13" Type="http://schemas.openxmlformats.org/officeDocument/2006/relationships/image" Target="../media/image18.png"/><Relationship Id="rId3" Type="http://schemas.openxmlformats.org/officeDocument/2006/relationships/image" Target="../media/image8.jpg"/><Relationship Id="rId7" Type="http://schemas.openxmlformats.org/officeDocument/2006/relationships/image" Target="../media/image12.jpg"/><Relationship Id="rId12" Type="http://schemas.openxmlformats.org/officeDocument/2006/relationships/image" Target="../media/image17.png"/><Relationship Id="rId17" Type="http://schemas.openxmlformats.org/officeDocument/2006/relationships/image" Target="../media/image22.jp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11" Type="http://schemas.openxmlformats.org/officeDocument/2006/relationships/image" Target="../media/image16.png"/><Relationship Id="rId5" Type="http://schemas.openxmlformats.org/officeDocument/2006/relationships/image" Target="../media/image10.jpg"/><Relationship Id="rId15" Type="http://schemas.openxmlformats.org/officeDocument/2006/relationships/image" Target="../media/image20.png"/><Relationship Id="rId10" Type="http://schemas.openxmlformats.org/officeDocument/2006/relationships/image" Target="../media/image15.jpg"/><Relationship Id="rId4" Type="http://schemas.openxmlformats.org/officeDocument/2006/relationships/image" Target="../media/image9.jpg"/><Relationship Id="rId9" Type="http://schemas.openxmlformats.org/officeDocument/2006/relationships/image" Target="../media/image14.jpg"/><Relationship Id="rId1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4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jpg"/><Relationship Id="rId4" Type="http://schemas.openxmlformats.org/officeDocument/2006/relationships/image" Target="../media/image3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jpg"/><Relationship Id="rId5" Type="http://schemas.openxmlformats.org/officeDocument/2006/relationships/image" Target="../media/image36.jpe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8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8.jpg"/><Relationship Id="rId4" Type="http://schemas.openxmlformats.org/officeDocument/2006/relationships/image" Target="../media/image39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0" name="Picture 4" descr="Auchan Romania celebrates 19th anniversary with over 1,300 special offers  and exclusive benefits - Business Review">
            <a:extLst>
              <a:ext uri="{FF2B5EF4-FFF2-40B4-BE49-F238E27FC236}">
                <a16:creationId xmlns:a16="http://schemas.microsoft.com/office/drawing/2014/main" id="{C2EAE277-9EA1-A3CD-17A7-EDE9F1231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8017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7691DA66-C743-BECC-AF75-81D4BC7B286E}"/>
              </a:ext>
            </a:extLst>
          </p:cNvPr>
          <p:cNvSpPr/>
          <p:nvPr/>
        </p:nvSpPr>
        <p:spPr>
          <a:xfrm>
            <a:off x="-2476116" y="4545494"/>
            <a:ext cx="7076660" cy="6944139"/>
          </a:xfrm>
          <a:prstGeom prst="ellipse">
            <a:avLst/>
          </a:prstGeom>
          <a:solidFill>
            <a:srgbClr val="F2ECE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942447B-7CE0-8988-E6C2-A7CEF34501D2}"/>
              </a:ext>
            </a:extLst>
          </p:cNvPr>
          <p:cNvGrpSpPr/>
          <p:nvPr/>
        </p:nvGrpSpPr>
        <p:grpSpPr>
          <a:xfrm>
            <a:off x="3034747" y="4113904"/>
            <a:ext cx="8083826" cy="1743569"/>
            <a:chOff x="3466148" y="3612963"/>
            <a:chExt cx="8083826" cy="174356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8BBC69F-0EE5-FFDC-9572-38DFDC11488A}"/>
                </a:ext>
              </a:extLst>
            </p:cNvPr>
            <p:cNvSpPr txBox="1"/>
            <p:nvPr/>
          </p:nvSpPr>
          <p:spPr>
            <a:xfrm>
              <a:off x="3466148" y="3612963"/>
              <a:ext cx="8083826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shot Erkat U" panose="02000803060000020004" pitchFamily="2" charset="0"/>
                </a:rPr>
                <a:t>OIKOS8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8D248BB-FBD2-59FB-212B-8356C4CEE3D7}"/>
                </a:ext>
              </a:extLst>
            </p:cNvPr>
            <p:cNvSpPr txBox="1"/>
            <p:nvPr/>
          </p:nvSpPr>
          <p:spPr>
            <a:xfrm>
              <a:off x="3565958" y="4894867"/>
              <a:ext cx="78842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shot Erkat U" panose="02000803060000020004" pitchFamily="2" charset="0"/>
                </a:rPr>
                <a:t>OIKOS thinks out of any Box</a:t>
              </a:r>
            </a:p>
          </p:txBody>
        </p:sp>
      </p:grpSp>
      <p:pic>
        <p:nvPicPr>
          <p:cNvPr id="14346" name="Picture 10" descr="Magasin Saint Genis 2 à Saint-Genis-Laval">
            <a:extLst>
              <a:ext uri="{FF2B5EF4-FFF2-40B4-BE49-F238E27FC236}">
                <a16:creationId xmlns:a16="http://schemas.microsoft.com/office/drawing/2014/main" id="{5AA4AD85-3803-A21E-4036-36B81502A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37140"/>
            <a:ext cx="8928722" cy="267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D6FA1CC6-AAAD-7C16-952D-4CF662E865DC}"/>
              </a:ext>
            </a:extLst>
          </p:cNvPr>
          <p:cNvSpPr/>
          <p:nvPr/>
        </p:nvSpPr>
        <p:spPr>
          <a:xfrm>
            <a:off x="9921294" y="2381968"/>
            <a:ext cx="5306821" cy="5207443"/>
          </a:xfrm>
          <a:prstGeom prst="ellipse">
            <a:avLst/>
          </a:prstGeom>
          <a:solidFill>
            <a:srgbClr val="F2ECE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343EE6F-09B5-57EE-84A7-74ACD529D0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encilGrayscale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628265" y="3782478"/>
            <a:ext cx="2782506" cy="278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462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13AAB4-A109-EE42-D3B6-4E85A6CAEB8B}"/>
              </a:ext>
            </a:extLst>
          </p:cNvPr>
          <p:cNvSpPr txBox="1"/>
          <p:nvPr/>
        </p:nvSpPr>
        <p:spPr>
          <a:xfrm>
            <a:off x="10986051" y="0"/>
            <a:ext cx="120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Overview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9FF282CF-7403-5267-14C7-5FE8AE6DE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5683" y="146638"/>
            <a:ext cx="644334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Store Network (Hungary)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19 hypermarkets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5 supermarkets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Nationwide retail coverage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Strong dominance of hypermarket format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54FE558E-F290-6C35-C02F-7BD58B5CC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8628" y="2444402"/>
            <a:ext cx="565648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Customer Loyalty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Loyalty program is key driver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55% of transactions via loyalty cards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1M+ registered members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49% regular shoppers (of loyal members)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90%+ visit at least once per year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C454856E-4E03-543B-5922-F6E19388DE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8628" y="5103674"/>
            <a:ext cx="654166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Strategic Direction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Focus on modernizing hypermarket model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Not shifting to discount format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Improve customer experience &amp; relevance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Especially targeting younger customers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CB6BEC-BB01-A4F2-E71A-441B00952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17" y="2612421"/>
            <a:ext cx="4876800" cy="3726612"/>
          </a:xfrm>
          <a:prstGeom prst="rect">
            <a:avLst/>
          </a:prstGeom>
        </p:spPr>
      </p:pic>
      <p:sp>
        <p:nvSpPr>
          <p:cNvPr id="5" name="Circle: Hollow 4">
            <a:extLst>
              <a:ext uri="{FF2B5EF4-FFF2-40B4-BE49-F238E27FC236}">
                <a16:creationId xmlns:a16="http://schemas.microsoft.com/office/drawing/2014/main" id="{885E467B-CE46-DE90-DD83-92EBF21C099F}"/>
              </a:ext>
            </a:extLst>
          </p:cNvPr>
          <p:cNvSpPr/>
          <p:nvPr/>
        </p:nvSpPr>
        <p:spPr>
          <a:xfrm>
            <a:off x="-608582" y="1066411"/>
            <a:ext cx="6818632" cy="6818632"/>
          </a:xfrm>
          <a:prstGeom prst="donut">
            <a:avLst>
              <a:gd name="adj" fmla="val 20837"/>
            </a:avLst>
          </a:prstGeom>
          <a:solidFill>
            <a:srgbClr val="00B050"/>
          </a:solidFill>
          <a:ln w="292100">
            <a:solidFill>
              <a:srgbClr val="C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5B86C6-DF55-B44B-1A0D-A2551E114BDC}"/>
              </a:ext>
            </a:extLst>
          </p:cNvPr>
          <p:cNvSpPr/>
          <p:nvPr/>
        </p:nvSpPr>
        <p:spPr>
          <a:xfrm>
            <a:off x="-352561" y="5897217"/>
            <a:ext cx="1160944" cy="165652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563C4A-7785-7D01-7481-583A676C2E2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37" y="85687"/>
            <a:ext cx="1041675" cy="10416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DCF2CA-E3FC-C54C-E258-6AB80479A1B5}"/>
              </a:ext>
            </a:extLst>
          </p:cNvPr>
          <p:cNvSpPr txBox="1"/>
          <p:nvPr/>
        </p:nvSpPr>
        <p:spPr>
          <a:xfrm>
            <a:off x="11383616" y="267807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9A93C2-AEC8-731F-E0A3-428F90D409C7}"/>
              </a:ext>
            </a:extLst>
          </p:cNvPr>
          <p:cNvSpPr txBox="1"/>
          <p:nvPr/>
        </p:nvSpPr>
        <p:spPr>
          <a:xfrm>
            <a:off x="11383615" y="490500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Strategy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997E1B-7B50-FA79-A3DF-289772995D8A}"/>
              </a:ext>
            </a:extLst>
          </p:cNvPr>
          <p:cNvSpPr txBox="1"/>
          <p:nvPr/>
        </p:nvSpPr>
        <p:spPr>
          <a:xfrm>
            <a:off x="11383616" y="720280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Impact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C5883A-C3AF-2D17-51AB-42AEF11CC3FB}"/>
              </a:ext>
            </a:extLst>
          </p:cNvPr>
          <p:cNvSpPr/>
          <p:nvPr/>
        </p:nvSpPr>
        <p:spPr>
          <a:xfrm>
            <a:off x="0" y="0"/>
            <a:ext cx="12284764" cy="6858000"/>
          </a:xfrm>
          <a:prstGeom prst="rect">
            <a:avLst/>
          </a:prstGeom>
          <a:solidFill>
            <a:srgbClr val="006C31">
              <a:alpha val="2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1931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BAEAC46-4D94-FE47-810B-DD8936D6D9DB}"/>
              </a:ext>
            </a:extLst>
          </p:cNvPr>
          <p:cNvSpPr/>
          <p:nvPr/>
        </p:nvSpPr>
        <p:spPr>
          <a:xfrm>
            <a:off x="166922" y="431867"/>
            <a:ext cx="5499653" cy="134392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51B421-47DF-3751-8F2A-09D7480703FF}"/>
              </a:ext>
            </a:extLst>
          </p:cNvPr>
          <p:cNvSpPr/>
          <p:nvPr/>
        </p:nvSpPr>
        <p:spPr>
          <a:xfrm>
            <a:off x="166922" y="2017639"/>
            <a:ext cx="5499653" cy="1343921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D7C4F4-091F-5D72-CC0D-8327509D0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22" y="431867"/>
            <a:ext cx="549965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Company Overview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Auchan Retail is a French international grocery retailer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Operates large-format hypermarkets and supermarkets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Focus on wide assortment and destination shopping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33DA1D35-6EB6-B712-D3B2-F35E7CFBC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22" y="1978766"/>
            <a:ext cx="790766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Revenue Drivers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High basket value per visit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Strong promotional campaigns &amp; supplier activation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Cross-category purchases (food + non-food)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12EB1C6-9DA8-E5D3-A30B-124B5A688B1D}"/>
              </a:ext>
            </a:extLst>
          </p:cNvPr>
          <p:cNvSpPr/>
          <p:nvPr/>
        </p:nvSpPr>
        <p:spPr>
          <a:xfrm>
            <a:off x="7397253" y="-2591265"/>
            <a:ext cx="6530781" cy="653078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C13C909C-F157-DE0E-BF36-0212C4B7A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22" y="3643357"/>
            <a:ext cx="489845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Business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Large-format retail (hypermarket-centered)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One-stop shopping experience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Combines food + non-food categories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Focus on planned shopping trips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BBE363F-5D6D-04A7-9BC5-D2DBD0F8432A}"/>
              </a:ext>
            </a:extLst>
          </p:cNvPr>
          <p:cNvCxnSpPr/>
          <p:nvPr/>
        </p:nvCxnSpPr>
        <p:spPr>
          <a:xfrm>
            <a:off x="166922" y="1889314"/>
            <a:ext cx="566403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1F1911B-FEA4-AACE-C390-247B57AF6D0B}"/>
              </a:ext>
            </a:extLst>
          </p:cNvPr>
          <p:cNvSpPr txBox="1"/>
          <p:nvPr/>
        </p:nvSpPr>
        <p:spPr>
          <a:xfrm>
            <a:off x="10986051" y="0"/>
            <a:ext cx="120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Overview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013F23-D9D3-6821-B00A-24DAACB0BA31}"/>
              </a:ext>
            </a:extLst>
          </p:cNvPr>
          <p:cNvSpPr txBox="1"/>
          <p:nvPr/>
        </p:nvSpPr>
        <p:spPr>
          <a:xfrm>
            <a:off x="11383616" y="267807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Analysis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FF6091-8087-E4B9-1F90-A420A443C6E6}"/>
              </a:ext>
            </a:extLst>
          </p:cNvPr>
          <p:cNvSpPr txBox="1"/>
          <p:nvPr/>
        </p:nvSpPr>
        <p:spPr>
          <a:xfrm>
            <a:off x="11383615" y="490500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Strategy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F4C867-CE64-7E1E-B20F-4F37BA2A29F1}"/>
              </a:ext>
            </a:extLst>
          </p:cNvPr>
          <p:cNvSpPr txBox="1"/>
          <p:nvPr/>
        </p:nvSpPr>
        <p:spPr>
          <a:xfrm>
            <a:off x="11383616" y="720280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Impact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18D54B-A2BC-6329-284A-73D9129BC773}"/>
              </a:ext>
            </a:extLst>
          </p:cNvPr>
          <p:cNvSpPr/>
          <p:nvPr/>
        </p:nvSpPr>
        <p:spPr>
          <a:xfrm>
            <a:off x="0" y="0"/>
            <a:ext cx="12284764" cy="6858000"/>
          </a:xfrm>
          <a:prstGeom prst="rect">
            <a:avLst/>
          </a:prstGeom>
          <a:solidFill>
            <a:srgbClr val="006C31">
              <a:alpha val="2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7935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B37884F-E118-50BC-616D-F4C7833B38CB}"/>
              </a:ext>
            </a:extLst>
          </p:cNvPr>
          <p:cNvSpPr/>
          <p:nvPr/>
        </p:nvSpPr>
        <p:spPr>
          <a:xfrm>
            <a:off x="0" y="2756452"/>
            <a:ext cx="12192000" cy="1351722"/>
          </a:xfrm>
          <a:prstGeom prst="rect">
            <a:avLst/>
          </a:prstGeom>
          <a:solidFill>
            <a:srgbClr val="0070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14ACBE-7FFB-9E01-79FD-DC9531892BB8}"/>
              </a:ext>
            </a:extLst>
          </p:cNvPr>
          <p:cNvSpPr txBox="1"/>
          <p:nvPr/>
        </p:nvSpPr>
        <p:spPr>
          <a:xfrm>
            <a:off x="212035" y="187692"/>
            <a:ext cx="58839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Task 1 Design a scalable concept with innovative ideas for repurposing the 2,000–4,000 m² space to enhance customer experience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D9025D-2375-4BB0-CBC9-D095441E85E9}"/>
              </a:ext>
            </a:extLst>
          </p:cNvPr>
          <p:cNvSpPr txBox="1"/>
          <p:nvPr/>
        </p:nvSpPr>
        <p:spPr>
          <a:xfrm>
            <a:off x="6096000" y="62119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Task 2 Detail the implementation and impact of your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5A3E25-CC10-1C29-0636-FBB313563DEF}"/>
              </a:ext>
            </a:extLst>
          </p:cNvPr>
          <p:cNvSpPr txBox="1"/>
          <p:nvPr/>
        </p:nvSpPr>
        <p:spPr>
          <a:xfrm>
            <a:off x="1550504" y="2967335"/>
            <a:ext cx="92367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How can shopping in Auchan be turned into a culture for Hungarians, through scalable and non-institutional changes in the short term?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392233-B194-D11A-7629-C8780EE329AD}"/>
              </a:ext>
            </a:extLst>
          </p:cNvPr>
          <p:cNvSpPr txBox="1"/>
          <p:nvPr/>
        </p:nvSpPr>
        <p:spPr>
          <a:xfrm>
            <a:off x="10986051" y="0"/>
            <a:ext cx="120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4EEE38-3CFB-A72B-C09F-6CECA7182649}"/>
              </a:ext>
            </a:extLst>
          </p:cNvPr>
          <p:cNvSpPr txBox="1"/>
          <p:nvPr/>
        </p:nvSpPr>
        <p:spPr>
          <a:xfrm>
            <a:off x="11383616" y="267807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4695E6-0004-B531-61E7-E9EE3C168041}"/>
              </a:ext>
            </a:extLst>
          </p:cNvPr>
          <p:cNvSpPr txBox="1"/>
          <p:nvPr/>
        </p:nvSpPr>
        <p:spPr>
          <a:xfrm>
            <a:off x="11383615" y="490500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Strategy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AC220F-D48B-1350-E09C-5BA290400A44}"/>
              </a:ext>
            </a:extLst>
          </p:cNvPr>
          <p:cNvSpPr txBox="1"/>
          <p:nvPr/>
        </p:nvSpPr>
        <p:spPr>
          <a:xfrm>
            <a:off x="11383616" y="720280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Impact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671CD5-66E0-6721-FA5A-F9B01CE8C6AC}"/>
              </a:ext>
            </a:extLst>
          </p:cNvPr>
          <p:cNvSpPr/>
          <p:nvPr/>
        </p:nvSpPr>
        <p:spPr>
          <a:xfrm>
            <a:off x="212035" y="1111022"/>
            <a:ext cx="8799443" cy="13468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0E8449-539D-E960-9921-15F8EBA5FF22}"/>
              </a:ext>
            </a:extLst>
          </p:cNvPr>
          <p:cNvSpPr/>
          <p:nvPr/>
        </p:nvSpPr>
        <p:spPr>
          <a:xfrm>
            <a:off x="3047308" y="6040947"/>
            <a:ext cx="8799443" cy="13468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EEDF7-ADF0-70BE-2DE3-D04FB6B1F1A1}"/>
              </a:ext>
            </a:extLst>
          </p:cNvPr>
          <p:cNvSpPr/>
          <p:nvPr/>
        </p:nvSpPr>
        <p:spPr>
          <a:xfrm>
            <a:off x="0" y="0"/>
            <a:ext cx="12284764" cy="6858000"/>
          </a:xfrm>
          <a:prstGeom prst="rect">
            <a:avLst/>
          </a:prstGeom>
          <a:solidFill>
            <a:srgbClr val="006C31">
              <a:alpha val="2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283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2F02A47-8E8B-5B20-7FAD-D0FE3B31AC34}"/>
              </a:ext>
            </a:extLst>
          </p:cNvPr>
          <p:cNvSpPr/>
          <p:nvPr/>
        </p:nvSpPr>
        <p:spPr>
          <a:xfrm>
            <a:off x="0" y="0"/>
            <a:ext cx="12284764" cy="6858000"/>
          </a:xfrm>
          <a:prstGeom prst="rect">
            <a:avLst/>
          </a:prstGeom>
          <a:solidFill>
            <a:srgbClr val="006C31">
              <a:alpha val="2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8D0A05-ACEF-58BE-3041-D504EBBCD6EF}"/>
              </a:ext>
            </a:extLst>
          </p:cNvPr>
          <p:cNvSpPr/>
          <p:nvPr/>
        </p:nvSpPr>
        <p:spPr>
          <a:xfrm>
            <a:off x="-1" y="-1748"/>
            <a:ext cx="12284765" cy="1351722"/>
          </a:xfrm>
          <a:prstGeom prst="rect">
            <a:avLst/>
          </a:prstGeom>
          <a:solidFill>
            <a:srgbClr val="0070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042778-D801-7BE0-A43D-33267FE1E4CC}"/>
              </a:ext>
            </a:extLst>
          </p:cNvPr>
          <p:cNvSpPr txBox="1"/>
          <p:nvPr/>
        </p:nvSpPr>
        <p:spPr>
          <a:xfrm>
            <a:off x="185531" y="222694"/>
            <a:ext cx="96608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Turn Auchan from a transactional hypermarket into a repeatable cultural-social destination through modular, low-cost, event-based activations.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349172-BD7F-4304-D538-65F6F87DF96C}"/>
              </a:ext>
            </a:extLst>
          </p:cNvPr>
          <p:cNvSpPr txBox="1"/>
          <p:nvPr/>
        </p:nvSpPr>
        <p:spPr>
          <a:xfrm>
            <a:off x="86140" y="1720911"/>
            <a:ext cx="985961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Shift from “shopping place” → “social place”</a:t>
            </a:r>
          </a:p>
          <a:p>
            <a:r>
              <a:rPr lang="en-US" sz="2400" dirty="0"/>
              <a:t>Instead of: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people come → buy → leave </a:t>
            </a:r>
          </a:p>
          <a:p>
            <a:r>
              <a:rPr lang="en-US" sz="2400" dirty="0"/>
              <a:t>You want: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people come → stay → interact → return even without urgent shopping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FDC1B3-7862-A03A-E64B-B7653BA1C0F7}"/>
              </a:ext>
            </a:extLst>
          </p:cNvPr>
          <p:cNvSpPr txBox="1"/>
          <p:nvPr/>
        </p:nvSpPr>
        <p:spPr>
          <a:xfrm>
            <a:off x="10986051" y="0"/>
            <a:ext cx="120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2A2AE7-F4F3-B85F-C13F-D83F691A6E36}"/>
              </a:ext>
            </a:extLst>
          </p:cNvPr>
          <p:cNvSpPr txBox="1"/>
          <p:nvPr/>
        </p:nvSpPr>
        <p:spPr>
          <a:xfrm>
            <a:off x="11383616" y="267807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9B324D-0D0A-B54E-C974-85034E2EF079}"/>
              </a:ext>
            </a:extLst>
          </p:cNvPr>
          <p:cNvSpPr txBox="1"/>
          <p:nvPr/>
        </p:nvSpPr>
        <p:spPr>
          <a:xfrm>
            <a:off x="11383615" y="490500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Strategy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C0952D-AF57-EADD-3549-96EFBEACB992}"/>
              </a:ext>
            </a:extLst>
          </p:cNvPr>
          <p:cNvSpPr txBox="1"/>
          <p:nvPr/>
        </p:nvSpPr>
        <p:spPr>
          <a:xfrm>
            <a:off x="11383616" y="720280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Impact</a:t>
            </a:r>
          </a:p>
        </p:txBody>
      </p:sp>
    </p:spTree>
    <p:extLst>
      <p:ext uri="{BB962C8B-B14F-4D97-AF65-F5344CB8AC3E}">
        <p14:creationId xmlns:p14="http://schemas.microsoft.com/office/powerpoint/2010/main" val="2820491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72B7DE2-784B-52E6-1B49-060696DDBAB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0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869CB9-188A-F0A5-3E44-B89BCBDD4502}"/>
              </a:ext>
            </a:extLst>
          </p:cNvPr>
          <p:cNvSpPr txBox="1"/>
          <p:nvPr/>
        </p:nvSpPr>
        <p:spPr>
          <a:xfrm>
            <a:off x="-93502" y="-448985"/>
            <a:ext cx="12683066" cy="7755969"/>
          </a:xfrm>
          <a:prstGeom prst="rect">
            <a:avLst/>
          </a:prstGeom>
          <a:solidFill>
            <a:srgbClr val="003300"/>
          </a:solidFill>
        </p:spPr>
        <p:txBody>
          <a:bodyPr wrap="square" rtlCol="0">
            <a:spAutoFit/>
          </a:bodyPr>
          <a:lstStyle/>
          <a:p>
            <a:pPr marL="1143000" indent="-1143000">
              <a:buFont typeface="Wingdings" panose="05000000000000000000" pitchFamily="2" charset="2"/>
              <a:buChar char="§"/>
            </a:pPr>
            <a:r>
              <a:rPr lang="en-US" sz="16600" b="1" dirty="0">
                <a:solidFill>
                  <a:srgbClr val="00B050"/>
                </a:solidFill>
                <a:latin typeface="Bahnschrift" panose="020B0502040204020203" pitchFamily="34" charset="0"/>
              </a:rPr>
              <a:t>How?</a:t>
            </a:r>
          </a:p>
          <a:p>
            <a:pPr marL="1143000" indent="-1143000">
              <a:buFont typeface="Wingdings" panose="05000000000000000000" pitchFamily="2" charset="2"/>
              <a:buChar char="§"/>
            </a:pPr>
            <a:r>
              <a:rPr lang="en-US" sz="16600" b="1" dirty="0">
                <a:solidFill>
                  <a:srgbClr val="00B050"/>
                </a:solidFill>
                <a:latin typeface="Bahnschrift" panose="020B0502040204020203" pitchFamily="34" charset="0"/>
              </a:rPr>
              <a:t>Why?</a:t>
            </a:r>
          </a:p>
          <a:p>
            <a:pPr marL="1143000" indent="-1143000">
              <a:buFont typeface="Wingdings" panose="05000000000000000000" pitchFamily="2" charset="2"/>
              <a:buChar char="§"/>
            </a:pPr>
            <a:r>
              <a:rPr lang="en-US" sz="16600" b="1" dirty="0">
                <a:solidFill>
                  <a:srgbClr val="00B050"/>
                </a:solidFill>
                <a:latin typeface="Bahnschrift" panose="020B0502040204020203" pitchFamily="34" charset="0"/>
              </a:rPr>
              <a:t>What?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DFD911-5F60-4D8A-46F6-C66F27FDE530}"/>
              </a:ext>
            </a:extLst>
          </p:cNvPr>
          <p:cNvSpPr txBox="1"/>
          <p:nvPr/>
        </p:nvSpPr>
        <p:spPr>
          <a:xfrm>
            <a:off x="10986051" y="0"/>
            <a:ext cx="120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3AA056-7514-1890-32C7-B13F4082D124}"/>
              </a:ext>
            </a:extLst>
          </p:cNvPr>
          <p:cNvSpPr txBox="1"/>
          <p:nvPr/>
        </p:nvSpPr>
        <p:spPr>
          <a:xfrm>
            <a:off x="11383616" y="267807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solidFill>
                  <a:schemeClr val="bg1"/>
                </a:solidFill>
              </a:rPr>
              <a:t>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E1CC65-D973-3E69-A8E2-9C8E453AB2B9}"/>
              </a:ext>
            </a:extLst>
          </p:cNvPr>
          <p:cNvSpPr txBox="1"/>
          <p:nvPr/>
        </p:nvSpPr>
        <p:spPr>
          <a:xfrm>
            <a:off x="11383615" y="490500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solidFill>
                  <a:schemeClr val="bg1"/>
                </a:solidFill>
              </a:rPr>
              <a:t>Strategy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ADB35B-0289-9030-0796-462B588BBC9C}"/>
              </a:ext>
            </a:extLst>
          </p:cNvPr>
          <p:cNvSpPr txBox="1"/>
          <p:nvPr/>
        </p:nvSpPr>
        <p:spPr>
          <a:xfrm>
            <a:off x="11383616" y="720280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solidFill>
                  <a:schemeClr val="bg1"/>
                </a:solidFill>
              </a:rPr>
              <a:t>Impact</a:t>
            </a:r>
          </a:p>
        </p:txBody>
      </p:sp>
    </p:spTree>
    <p:extLst>
      <p:ext uri="{BB962C8B-B14F-4D97-AF65-F5344CB8AC3E}">
        <p14:creationId xmlns:p14="http://schemas.microsoft.com/office/powerpoint/2010/main" val="398389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0FEEB0A-739E-9F3C-5749-DDC10B5AD242}"/>
              </a:ext>
            </a:extLst>
          </p:cNvPr>
          <p:cNvSpPr/>
          <p:nvPr/>
        </p:nvSpPr>
        <p:spPr>
          <a:xfrm>
            <a:off x="0" y="0"/>
            <a:ext cx="4064000" cy="6858000"/>
          </a:xfrm>
          <a:prstGeom prst="rect">
            <a:avLst/>
          </a:prstGeom>
          <a:solidFill>
            <a:srgbClr val="FE0A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2A4DE1-E495-5629-AF20-32AF2E46CF3E}"/>
              </a:ext>
            </a:extLst>
          </p:cNvPr>
          <p:cNvSpPr/>
          <p:nvPr/>
        </p:nvSpPr>
        <p:spPr>
          <a:xfrm>
            <a:off x="4064000" y="0"/>
            <a:ext cx="4064000" cy="6858000"/>
          </a:xfrm>
          <a:prstGeom prst="rect">
            <a:avLst/>
          </a:prstGeom>
          <a:solidFill>
            <a:srgbClr val="B301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6403AC-5257-A702-7A66-C19AC2CDA39F}"/>
              </a:ext>
            </a:extLst>
          </p:cNvPr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rgbClr val="7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64BA1D-999F-8240-27CE-916D1C7ECCFA}"/>
              </a:ext>
            </a:extLst>
          </p:cNvPr>
          <p:cNvSpPr txBox="1"/>
          <p:nvPr/>
        </p:nvSpPr>
        <p:spPr>
          <a:xfrm>
            <a:off x="11319163" y="100299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935BED-E7CB-5230-0FA6-81D2A59A86BD}"/>
              </a:ext>
            </a:extLst>
          </p:cNvPr>
          <p:cNvSpPr txBox="1"/>
          <p:nvPr/>
        </p:nvSpPr>
        <p:spPr>
          <a:xfrm>
            <a:off x="11163268" y="250324"/>
            <a:ext cx="120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chemeClr val="bg1"/>
                </a:solidFill>
              </a:rPr>
              <a:t>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02CAD2-0DE6-8630-794E-51E816C29DA1}"/>
              </a:ext>
            </a:extLst>
          </p:cNvPr>
          <p:cNvSpPr txBox="1"/>
          <p:nvPr/>
        </p:nvSpPr>
        <p:spPr>
          <a:xfrm>
            <a:off x="11383615" y="507126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solidFill>
                  <a:schemeClr val="bg1"/>
                </a:solidFill>
              </a:rPr>
              <a:t>Strategy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30351A-D740-9C65-7696-301EFB3279CC}"/>
              </a:ext>
            </a:extLst>
          </p:cNvPr>
          <p:cNvSpPr txBox="1"/>
          <p:nvPr/>
        </p:nvSpPr>
        <p:spPr>
          <a:xfrm>
            <a:off x="11450120" y="720280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solidFill>
                  <a:schemeClr val="bg1"/>
                </a:solidFill>
              </a:rPr>
              <a:t>Impact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BC787B-B17C-5804-7018-AEB9229E61D9}"/>
              </a:ext>
            </a:extLst>
          </p:cNvPr>
          <p:cNvSpPr txBox="1"/>
          <p:nvPr/>
        </p:nvSpPr>
        <p:spPr>
          <a:xfrm>
            <a:off x="237067" y="720280"/>
            <a:ext cx="34938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shot Erkat U" panose="02000803060000020004" pitchFamily="2" charset="0"/>
              </a:rPr>
              <a:t>International Benchmark Analysis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02DF13-7DDE-3BB7-17C0-F39BC821E128}"/>
              </a:ext>
            </a:extLst>
          </p:cNvPr>
          <p:cNvSpPr txBox="1"/>
          <p:nvPr/>
        </p:nvSpPr>
        <p:spPr>
          <a:xfrm>
            <a:off x="4301067" y="872680"/>
            <a:ext cx="34938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shot Erkat U" panose="02000803060000020004" pitchFamily="2" charset="0"/>
              </a:rPr>
              <a:t>Site Analysis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B6A591-78F9-CDFC-9932-1AA6DE0330E0}"/>
              </a:ext>
            </a:extLst>
          </p:cNvPr>
          <p:cNvSpPr txBox="1"/>
          <p:nvPr/>
        </p:nvSpPr>
        <p:spPr>
          <a:xfrm>
            <a:off x="8413089" y="1025080"/>
            <a:ext cx="34938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shot Erkat U" panose="02000803060000020004" pitchFamily="2" charset="0"/>
              </a:rPr>
              <a:t>Financial Analysis</a:t>
            </a:r>
          </a:p>
        </p:txBody>
      </p:sp>
    </p:spTree>
    <p:extLst>
      <p:ext uri="{BB962C8B-B14F-4D97-AF65-F5344CB8AC3E}">
        <p14:creationId xmlns:p14="http://schemas.microsoft.com/office/powerpoint/2010/main" val="3940291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B0AFAF-9275-5406-53D9-BB6A7281BD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A02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C849DC0-956B-C096-BA1E-8642B2A0E396}"/>
              </a:ext>
            </a:extLst>
          </p:cNvPr>
          <p:cNvGrpSpPr/>
          <p:nvPr/>
        </p:nvGrpSpPr>
        <p:grpSpPr>
          <a:xfrm>
            <a:off x="0" y="1210433"/>
            <a:ext cx="12192000" cy="5647567"/>
            <a:chOff x="0" y="1210433"/>
            <a:chExt cx="12192000" cy="564756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ACD1491-446B-BDE0-855E-2FB43E1054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7" t="9660" r="25041" b="56892"/>
            <a:stretch/>
          </p:blipFill>
          <p:spPr>
            <a:xfrm>
              <a:off x="0" y="1210433"/>
              <a:ext cx="12192000" cy="364760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E2E9C1F-A80C-B92D-15C4-B7AE334B17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458" t="84291"/>
            <a:stretch/>
          </p:blipFill>
          <p:spPr>
            <a:xfrm>
              <a:off x="0" y="4871545"/>
              <a:ext cx="8069369" cy="1986455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BBD6873-A825-12B6-D46C-1F4F6C25C9ED}"/>
              </a:ext>
            </a:extLst>
          </p:cNvPr>
          <p:cNvSpPr txBox="1"/>
          <p:nvPr/>
        </p:nvSpPr>
        <p:spPr>
          <a:xfrm>
            <a:off x="11319163" y="100299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FAEDAC-A1E9-E469-AD6B-0A2E5DBCEE07}"/>
              </a:ext>
            </a:extLst>
          </p:cNvPr>
          <p:cNvSpPr txBox="1"/>
          <p:nvPr/>
        </p:nvSpPr>
        <p:spPr>
          <a:xfrm>
            <a:off x="11163268" y="250324"/>
            <a:ext cx="120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chemeClr val="bg1"/>
                </a:solidFill>
              </a:rPr>
              <a:t>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3ACC05-0682-5B89-D1B9-706B18D143FA}"/>
              </a:ext>
            </a:extLst>
          </p:cNvPr>
          <p:cNvSpPr txBox="1"/>
          <p:nvPr/>
        </p:nvSpPr>
        <p:spPr>
          <a:xfrm>
            <a:off x="11383615" y="507126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solidFill>
                  <a:schemeClr val="bg1"/>
                </a:solidFill>
              </a:rPr>
              <a:t>Strategy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6B7A42-7FA5-D42B-0ED0-22ED24C1CF78}"/>
              </a:ext>
            </a:extLst>
          </p:cNvPr>
          <p:cNvSpPr txBox="1"/>
          <p:nvPr/>
        </p:nvSpPr>
        <p:spPr>
          <a:xfrm>
            <a:off x="11450120" y="720280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solidFill>
                  <a:schemeClr val="bg1"/>
                </a:solidFill>
              </a:rPr>
              <a:t>Impact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7CD8BC-4493-C475-7666-B8524511B555}"/>
              </a:ext>
            </a:extLst>
          </p:cNvPr>
          <p:cNvSpPr txBox="1"/>
          <p:nvPr/>
        </p:nvSpPr>
        <p:spPr>
          <a:xfrm>
            <a:off x="0" y="209855"/>
            <a:ext cx="114501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Ashot Erkat U" panose="02000803060000020004" pitchFamily="2" charset="0"/>
              </a:rPr>
              <a:t>International Benchmark</a:t>
            </a:r>
          </a:p>
        </p:txBody>
      </p:sp>
    </p:spTree>
    <p:extLst>
      <p:ext uri="{BB962C8B-B14F-4D97-AF65-F5344CB8AC3E}">
        <p14:creationId xmlns:p14="http://schemas.microsoft.com/office/powerpoint/2010/main" val="980880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B114D-6C24-6E71-A74E-9910B7195C5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301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BD6873-A825-12B6-D46C-1F4F6C25C9ED}"/>
              </a:ext>
            </a:extLst>
          </p:cNvPr>
          <p:cNvSpPr txBox="1"/>
          <p:nvPr/>
        </p:nvSpPr>
        <p:spPr>
          <a:xfrm>
            <a:off x="11319163" y="100299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FAEDAC-A1E9-E469-AD6B-0A2E5DBCEE07}"/>
              </a:ext>
            </a:extLst>
          </p:cNvPr>
          <p:cNvSpPr txBox="1"/>
          <p:nvPr/>
        </p:nvSpPr>
        <p:spPr>
          <a:xfrm>
            <a:off x="11163268" y="250324"/>
            <a:ext cx="120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chemeClr val="bg1"/>
                </a:solidFill>
              </a:rPr>
              <a:t>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3ACC05-0682-5B89-D1B9-706B18D143FA}"/>
              </a:ext>
            </a:extLst>
          </p:cNvPr>
          <p:cNvSpPr txBox="1"/>
          <p:nvPr/>
        </p:nvSpPr>
        <p:spPr>
          <a:xfrm>
            <a:off x="11383615" y="507126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solidFill>
                  <a:schemeClr val="bg1"/>
                </a:solidFill>
              </a:rPr>
              <a:t>Strategy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6B7A42-7FA5-D42B-0ED0-22ED24C1CF78}"/>
              </a:ext>
            </a:extLst>
          </p:cNvPr>
          <p:cNvSpPr txBox="1"/>
          <p:nvPr/>
        </p:nvSpPr>
        <p:spPr>
          <a:xfrm>
            <a:off x="11450120" y="720280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solidFill>
                  <a:schemeClr val="bg1"/>
                </a:solidFill>
              </a:rPr>
              <a:t>Impact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7CD8BC-4493-C475-7666-B8524511B555}"/>
              </a:ext>
            </a:extLst>
          </p:cNvPr>
          <p:cNvSpPr txBox="1"/>
          <p:nvPr/>
        </p:nvSpPr>
        <p:spPr>
          <a:xfrm>
            <a:off x="0" y="209855"/>
            <a:ext cx="114501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Ashot Erkat U" panose="02000803060000020004" pitchFamily="2" charset="0"/>
              </a:rPr>
              <a:t>Site Analysis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D016D14-1765-1891-11FD-4C719D71B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3" y="1408644"/>
            <a:ext cx="9480331" cy="53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3654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B0AFAF-9275-5406-53D9-BB6A7281BD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A02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BD6873-A825-12B6-D46C-1F4F6C25C9ED}"/>
              </a:ext>
            </a:extLst>
          </p:cNvPr>
          <p:cNvSpPr txBox="1"/>
          <p:nvPr/>
        </p:nvSpPr>
        <p:spPr>
          <a:xfrm>
            <a:off x="11319163" y="100299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FAEDAC-A1E9-E469-AD6B-0A2E5DBCEE07}"/>
              </a:ext>
            </a:extLst>
          </p:cNvPr>
          <p:cNvSpPr txBox="1"/>
          <p:nvPr/>
        </p:nvSpPr>
        <p:spPr>
          <a:xfrm>
            <a:off x="11163268" y="250324"/>
            <a:ext cx="120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chemeClr val="bg1"/>
                </a:solidFill>
              </a:rPr>
              <a:t>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3ACC05-0682-5B89-D1B9-706B18D143FA}"/>
              </a:ext>
            </a:extLst>
          </p:cNvPr>
          <p:cNvSpPr txBox="1"/>
          <p:nvPr/>
        </p:nvSpPr>
        <p:spPr>
          <a:xfrm>
            <a:off x="11383615" y="507126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solidFill>
                  <a:schemeClr val="bg1"/>
                </a:solidFill>
              </a:rPr>
              <a:t>Strategy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6B7A42-7FA5-D42B-0ED0-22ED24C1CF78}"/>
              </a:ext>
            </a:extLst>
          </p:cNvPr>
          <p:cNvSpPr txBox="1"/>
          <p:nvPr/>
        </p:nvSpPr>
        <p:spPr>
          <a:xfrm>
            <a:off x="11450120" y="720280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solidFill>
                  <a:schemeClr val="bg1"/>
                </a:solidFill>
              </a:rPr>
              <a:t>Impact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7CD8BC-4493-C475-7666-B8524511B555}"/>
              </a:ext>
            </a:extLst>
          </p:cNvPr>
          <p:cNvSpPr txBox="1"/>
          <p:nvPr/>
        </p:nvSpPr>
        <p:spPr>
          <a:xfrm>
            <a:off x="0" y="67372"/>
            <a:ext cx="1145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shot Erkat U" panose="02000803060000020004" pitchFamily="2" charset="0"/>
              </a:rPr>
              <a:t>Site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43DFFF-77D7-2169-ADB6-F1A7077F5BE7}"/>
              </a:ext>
            </a:extLst>
          </p:cNvPr>
          <p:cNvSpPr txBox="1"/>
          <p:nvPr/>
        </p:nvSpPr>
        <p:spPr>
          <a:xfrm>
            <a:off x="9646394" y="1408644"/>
            <a:ext cx="248464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Typical Daily Shopping Basket (Top 10 Items)</a:t>
            </a: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🍞 Bread </a:t>
            </a: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🥚 Eggs </a:t>
            </a: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🥛 Milk </a:t>
            </a: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🧀 Cheese </a:t>
            </a: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🍗 Chicken / Meat </a:t>
            </a: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🍎 Fruits </a:t>
            </a: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🥕 Vegetables </a:t>
            </a: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🧈 Butter</a:t>
            </a: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🧻 Toilet Paper </a:t>
            </a: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☕ Coffee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D80572-B466-0DF8-8449-1530AF3F5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3" y="1408644"/>
            <a:ext cx="9480331" cy="5351999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52B26E-7619-EAD7-9B00-F467CE4E0613}"/>
              </a:ext>
            </a:extLst>
          </p:cNvPr>
          <p:cNvSpPr/>
          <p:nvPr/>
        </p:nvSpPr>
        <p:spPr>
          <a:xfrm>
            <a:off x="548874" y="1494394"/>
            <a:ext cx="6820874" cy="4948447"/>
          </a:xfrm>
          <a:custGeom>
            <a:avLst/>
            <a:gdLst>
              <a:gd name="connsiteX0" fmla="*/ 817471 w 6820874"/>
              <a:gd name="connsiteY0" fmla="*/ 4948447 h 4948447"/>
              <a:gd name="connsiteX1" fmla="*/ 838492 w 6820874"/>
              <a:gd name="connsiteY1" fmla="*/ 4401909 h 4948447"/>
              <a:gd name="connsiteX2" fmla="*/ 155319 w 6820874"/>
              <a:gd name="connsiteY2" fmla="*/ 4086599 h 4948447"/>
              <a:gd name="connsiteX3" fmla="*/ 8174 w 6820874"/>
              <a:gd name="connsiteY3" fmla="*/ 3109137 h 4948447"/>
              <a:gd name="connsiteX4" fmla="*/ 81747 w 6820874"/>
              <a:gd name="connsiteY4" fmla="*/ 1059620 h 4948447"/>
              <a:gd name="connsiteX5" fmla="*/ 596754 w 6820874"/>
              <a:gd name="connsiteY5" fmla="*/ 113689 h 4948447"/>
              <a:gd name="connsiteX6" fmla="*/ 1532174 w 6820874"/>
              <a:gd name="connsiteY6" fmla="*/ 113689 h 4948447"/>
              <a:gd name="connsiteX7" fmla="*/ 1542685 w 6820874"/>
              <a:gd name="connsiteY7" fmla="*/ 986047 h 4948447"/>
              <a:gd name="connsiteX8" fmla="*/ 1111760 w 6820874"/>
              <a:gd name="connsiteY8" fmla="*/ 1206765 h 4948447"/>
              <a:gd name="connsiteX9" fmla="*/ 1111760 w 6820874"/>
              <a:gd name="connsiteY9" fmla="*/ 1795344 h 4948447"/>
              <a:gd name="connsiteX10" fmla="*/ 1521664 w 6820874"/>
              <a:gd name="connsiteY10" fmla="*/ 2331372 h 4948447"/>
              <a:gd name="connsiteX11" fmla="*/ 2541167 w 6820874"/>
              <a:gd name="connsiteY11" fmla="*/ 2373413 h 4948447"/>
              <a:gd name="connsiteX12" fmla="*/ 2614740 w 6820874"/>
              <a:gd name="connsiteY12" fmla="*/ 3708227 h 4948447"/>
              <a:gd name="connsiteX13" fmla="*/ 3623733 w 6820874"/>
              <a:gd name="connsiteY13" fmla="*/ 4002516 h 4948447"/>
              <a:gd name="connsiteX14" fmla="*/ 3770878 w 6820874"/>
              <a:gd name="connsiteY14" fmla="*/ 2352392 h 4948447"/>
              <a:gd name="connsiteX15" fmla="*/ 4233333 w 6820874"/>
              <a:gd name="connsiteY15" fmla="*/ 2226268 h 4948447"/>
              <a:gd name="connsiteX16" fmla="*/ 4863954 w 6820874"/>
              <a:gd name="connsiteY16" fmla="*/ 2257799 h 4948447"/>
              <a:gd name="connsiteX17" fmla="*/ 4800892 w 6820874"/>
              <a:gd name="connsiteY17" fmla="*/ 1585137 h 4948447"/>
              <a:gd name="connsiteX18" fmla="*/ 4790381 w 6820874"/>
              <a:gd name="connsiteY18" fmla="*/ 302875 h 4948447"/>
              <a:gd name="connsiteX19" fmla="*/ 4159760 w 6820874"/>
              <a:gd name="connsiteY19" fmla="*/ 271344 h 4948447"/>
              <a:gd name="connsiteX20" fmla="*/ 2993112 w 6820874"/>
              <a:gd name="connsiteY20" fmla="*/ 250323 h 4948447"/>
              <a:gd name="connsiteX21" fmla="*/ 2520147 w 6820874"/>
              <a:gd name="connsiteY21" fmla="*/ 1038599 h 4948447"/>
              <a:gd name="connsiteX22" fmla="*/ 2688312 w 6820874"/>
              <a:gd name="connsiteY22" fmla="*/ 2257799 h 4948447"/>
              <a:gd name="connsiteX23" fmla="*/ 4454050 w 6820874"/>
              <a:gd name="connsiteY23" fmla="*/ 2236778 h 4948447"/>
              <a:gd name="connsiteX24" fmla="*/ 6398464 w 6820874"/>
              <a:gd name="connsiteY24" fmla="*/ 2352392 h 4948447"/>
              <a:gd name="connsiteX25" fmla="*/ 6766326 w 6820874"/>
              <a:gd name="connsiteY25" fmla="*/ 3907923 h 4948447"/>
              <a:gd name="connsiteX26" fmla="*/ 5578657 w 6820874"/>
              <a:gd name="connsiteY26" fmla="*/ 4759261 h 4948447"/>
              <a:gd name="connsiteX27" fmla="*/ 2551678 w 6820874"/>
              <a:gd name="connsiteY27" fmla="*/ 4927427 h 4948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820874" h="4948447" extrusionOk="0">
                <a:moveTo>
                  <a:pt x="817471" y="4948447"/>
                </a:moveTo>
                <a:cubicBezTo>
                  <a:pt x="866334" y="4736619"/>
                  <a:pt x="903621" y="4562526"/>
                  <a:pt x="838492" y="4401909"/>
                </a:cubicBezTo>
                <a:cubicBezTo>
                  <a:pt x="744130" y="4261636"/>
                  <a:pt x="274274" y="4302679"/>
                  <a:pt x="155319" y="4086599"/>
                </a:cubicBezTo>
                <a:cubicBezTo>
                  <a:pt x="-15765" y="3903068"/>
                  <a:pt x="8189" y="3681327"/>
                  <a:pt x="8174" y="3109137"/>
                </a:cubicBezTo>
                <a:cubicBezTo>
                  <a:pt x="-115461" y="2543707"/>
                  <a:pt x="103844" y="1616291"/>
                  <a:pt x="81747" y="1059620"/>
                </a:cubicBezTo>
                <a:cubicBezTo>
                  <a:pt x="198966" y="562647"/>
                  <a:pt x="374267" y="231726"/>
                  <a:pt x="596754" y="113689"/>
                </a:cubicBezTo>
                <a:cubicBezTo>
                  <a:pt x="806869" y="-48809"/>
                  <a:pt x="1340035" y="762"/>
                  <a:pt x="1532174" y="113689"/>
                </a:cubicBezTo>
                <a:cubicBezTo>
                  <a:pt x="1687721" y="238978"/>
                  <a:pt x="1596446" y="826531"/>
                  <a:pt x="1542685" y="986047"/>
                </a:cubicBezTo>
                <a:cubicBezTo>
                  <a:pt x="1496440" y="1181564"/>
                  <a:pt x="1219784" y="1080587"/>
                  <a:pt x="1111760" y="1206765"/>
                </a:cubicBezTo>
                <a:cubicBezTo>
                  <a:pt x="1007853" y="1336458"/>
                  <a:pt x="1055363" y="1617659"/>
                  <a:pt x="1111760" y="1795344"/>
                </a:cubicBezTo>
                <a:cubicBezTo>
                  <a:pt x="1212348" y="2030817"/>
                  <a:pt x="1290470" y="2307939"/>
                  <a:pt x="1521664" y="2331372"/>
                </a:cubicBezTo>
                <a:cubicBezTo>
                  <a:pt x="1791945" y="2477081"/>
                  <a:pt x="2363608" y="2149596"/>
                  <a:pt x="2541167" y="2373413"/>
                </a:cubicBezTo>
                <a:cubicBezTo>
                  <a:pt x="2741277" y="2587190"/>
                  <a:pt x="2439170" y="3413860"/>
                  <a:pt x="2614740" y="3708227"/>
                </a:cubicBezTo>
                <a:cubicBezTo>
                  <a:pt x="2769897" y="3983894"/>
                  <a:pt x="3391449" y="4201169"/>
                  <a:pt x="3623733" y="4002516"/>
                </a:cubicBezTo>
                <a:cubicBezTo>
                  <a:pt x="3755328" y="3772207"/>
                  <a:pt x="3633433" y="2575365"/>
                  <a:pt x="3770878" y="2352392"/>
                </a:cubicBezTo>
                <a:cubicBezTo>
                  <a:pt x="3872880" y="2050909"/>
                  <a:pt x="4042002" y="2247377"/>
                  <a:pt x="4233333" y="2226268"/>
                </a:cubicBezTo>
                <a:cubicBezTo>
                  <a:pt x="4398543" y="2240845"/>
                  <a:pt x="4800765" y="2387989"/>
                  <a:pt x="4863954" y="2257799"/>
                </a:cubicBezTo>
                <a:cubicBezTo>
                  <a:pt x="4958171" y="2159873"/>
                  <a:pt x="4865669" y="1879808"/>
                  <a:pt x="4800892" y="1585137"/>
                </a:cubicBezTo>
                <a:cubicBezTo>
                  <a:pt x="4785273" y="1264646"/>
                  <a:pt x="4858214" y="523921"/>
                  <a:pt x="4790381" y="302875"/>
                </a:cubicBezTo>
                <a:cubicBezTo>
                  <a:pt x="4683526" y="83911"/>
                  <a:pt x="4159760" y="271344"/>
                  <a:pt x="4159760" y="271344"/>
                </a:cubicBezTo>
                <a:cubicBezTo>
                  <a:pt x="3866746" y="225237"/>
                  <a:pt x="3252947" y="121687"/>
                  <a:pt x="2993112" y="250323"/>
                </a:cubicBezTo>
                <a:cubicBezTo>
                  <a:pt x="2778133" y="428383"/>
                  <a:pt x="2550615" y="765414"/>
                  <a:pt x="2520147" y="1038599"/>
                </a:cubicBezTo>
                <a:cubicBezTo>
                  <a:pt x="2422719" y="1466782"/>
                  <a:pt x="2328470" y="2008313"/>
                  <a:pt x="2688312" y="2257799"/>
                </a:cubicBezTo>
                <a:cubicBezTo>
                  <a:pt x="3023179" y="2461427"/>
                  <a:pt x="3830557" y="2114488"/>
                  <a:pt x="4454050" y="2236778"/>
                </a:cubicBezTo>
                <a:cubicBezTo>
                  <a:pt x="5128821" y="2288082"/>
                  <a:pt x="5929047" y="2092309"/>
                  <a:pt x="6398464" y="2352392"/>
                </a:cubicBezTo>
                <a:cubicBezTo>
                  <a:pt x="6748509" y="2741073"/>
                  <a:pt x="6869147" y="3400294"/>
                  <a:pt x="6766326" y="3907923"/>
                </a:cubicBezTo>
                <a:cubicBezTo>
                  <a:pt x="6646315" y="4296582"/>
                  <a:pt x="6325126" y="4512904"/>
                  <a:pt x="5578657" y="4759261"/>
                </a:cubicBezTo>
                <a:cubicBezTo>
                  <a:pt x="4802212" y="4900809"/>
                  <a:pt x="3899706" y="4745640"/>
                  <a:pt x="2551678" y="4927427"/>
                </a:cubicBezTo>
              </a:path>
            </a:pathLst>
          </a:custGeom>
          <a:noFill/>
          <a:ln w="57150" cap="sq" cmpd="thinThick">
            <a:solidFill>
              <a:schemeClr val="accent1">
                <a:shade val="50000"/>
                <a:alpha val="89000"/>
              </a:schemeClr>
            </a:solidFill>
            <a:prstDash val="lgDashDot"/>
            <a:round/>
            <a:headEnd type="oval" w="med" len="med"/>
            <a:tailEnd type="triangle" w="sm" len="sm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817471 w 6820874"/>
                      <a:gd name="connsiteY0" fmla="*/ 4948447 h 4948447"/>
                      <a:gd name="connsiteX1" fmla="*/ 838492 w 6820874"/>
                      <a:gd name="connsiteY1" fmla="*/ 4401909 h 4948447"/>
                      <a:gd name="connsiteX2" fmla="*/ 155319 w 6820874"/>
                      <a:gd name="connsiteY2" fmla="*/ 4086599 h 4948447"/>
                      <a:gd name="connsiteX3" fmla="*/ 8174 w 6820874"/>
                      <a:gd name="connsiteY3" fmla="*/ 3109137 h 4948447"/>
                      <a:gd name="connsiteX4" fmla="*/ 81747 w 6820874"/>
                      <a:gd name="connsiteY4" fmla="*/ 1059620 h 4948447"/>
                      <a:gd name="connsiteX5" fmla="*/ 596754 w 6820874"/>
                      <a:gd name="connsiteY5" fmla="*/ 113689 h 4948447"/>
                      <a:gd name="connsiteX6" fmla="*/ 1532174 w 6820874"/>
                      <a:gd name="connsiteY6" fmla="*/ 113689 h 4948447"/>
                      <a:gd name="connsiteX7" fmla="*/ 1542685 w 6820874"/>
                      <a:gd name="connsiteY7" fmla="*/ 986047 h 4948447"/>
                      <a:gd name="connsiteX8" fmla="*/ 1111760 w 6820874"/>
                      <a:gd name="connsiteY8" fmla="*/ 1206765 h 4948447"/>
                      <a:gd name="connsiteX9" fmla="*/ 1111760 w 6820874"/>
                      <a:gd name="connsiteY9" fmla="*/ 1795344 h 4948447"/>
                      <a:gd name="connsiteX10" fmla="*/ 1521664 w 6820874"/>
                      <a:gd name="connsiteY10" fmla="*/ 2331372 h 4948447"/>
                      <a:gd name="connsiteX11" fmla="*/ 2541167 w 6820874"/>
                      <a:gd name="connsiteY11" fmla="*/ 2373413 h 4948447"/>
                      <a:gd name="connsiteX12" fmla="*/ 2614740 w 6820874"/>
                      <a:gd name="connsiteY12" fmla="*/ 3708227 h 4948447"/>
                      <a:gd name="connsiteX13" fmla="*/ 3623733 w 6820874"/>
                      <a:gd name="connsiteY13" fmla="*/ 4002516 h 4948447"/>
                      <a:gd name="connsiteX14" fmla="*/ 3770878 w 6820874"/>
                      <a:gd name="connsiteY14" fmla="*/ 2352392 h 4948447"/>
                      <a:gd name="connsiteX15" fmla="*/ 4233333 w 6820874"/>
                      <a:gd name="connsiteY15" fmla="*/ 2226268 h 4948447"/>
                      <a:gd name="connsiteX16" fmla="*/ 4863954 w 6820874"/>
                      <a:gd name="connsiteY16" fmla="*/ 2257799 h 4948447"/>
                      <a:gd name="connsiteX17" fmla="*/ 4800892 w 6820874"/>
                      <a:gd name="connsiteY17" fmla="*/ 1585137 h 4948447"/>
                      <a:gd name="connsiteX18" fmla="*/ 4790381 w 6820874"/>
                      <a:gd name="connsiteY18" fmla="*/ 302875 h 4948447"/>
                      <a:gd name="connsiteX19" fmla="*/ 4159760 w 6820874"/>
                      <a:gd name="connsiteY19" fmla="*/ 271344 h 4948447"/>
                      <a:gd name="connsiteX20" fmla="*/ 2993112 w 6820874"/>
                      <a:gd name="connsiteY20" fmla="*/ 250323 h 4948447"/>
                      <a:gd name="connsiteX21" fmla="*/ 2520147 w 6820874"/>
                      <a:gd name="connsiteY21" fmla="*/ 1038599 h 4948447"/>
                      <a:gd name="connsiteX22" fmla="*/ 2688312 w 6820874"/>
                      <a:gd name="connsiteY22" fmla="*/ 2257799 h 4948447"/>
                      <a:gd name="connsiteX23" fmla="*/ 4454050 w 6820874"/>
                      <a:gd name="connsiteY23" fmla="*/ 2236778 h 4948447"/>
                      <a:gd name="connsiteX24" fmla="*/ 6398464 w 6820874"/>
                      <a:gd name="connsiteY24" fmla="*/ 2352392 h 4948447"/>
                      <a:gd name="connsiteX25" fmla="*/ 6766326 w 6820874"/>
                      <a:gd name="connsiteY25" fmla="*/ 3907923 h 4948447"/>
                      <a:gd name="connsiteX26" fmla="*/ 5578657 w 6820874"/>
                      <a:gd name="connsiteY26" fmla="*/ 4759261 h 4948447"/>
                      <a:gd name="connsiteX27" fmla="*/ 2551678 w 6820874"/>
                      <a:gd name="connsiteY27" fmla="*/ 4927427 h 49484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6820874" h="4948447">
                        <a:moveTo>
                          <a:pt x="817471" y="4948447"/>
                        </a:moveTo>
                        <a:cubicBezTo>
                          <a:pt x="883161" y="4746998"/>
                          <a:pt x="948851" y="4545550"/>
                          <a:pt x="838492" y="4401909"/>
                        </a:cubicBezTo>
                        <a:cubicBezTo>
                          <a:pt x="728133" y="4258268"/>
                          <a:pt x="293705" y="4302061"/>
                          <a:pt x="155319" y="4086599"/>
                        </a:cubicBezTo>
                        <a:cubicBezTo>
                          <a:pt x="16933" y="3871137"/>
                          <a:pt x="20436" y="3613633"/>
                          <a:pt x="8174" y="3109137"/>
                        </a:cubicBezTo>
                        <a:cubicBezTo>
                          <a:pt x="-4088" y="2604641"/>
                          <a:pt x="-16350" y="1558861"/>
                          <a:pt x="81747" y="1059620"/>
                        </a:cubicBezTo>
                        <a:cubicBezTo>
                          <a:pt x="179844" y="560379"/>
                          <a:pt x="355016" y="271344"/>
                          <a:pt x="596754" y="113689"/>
                        </a:cubicBezTo>
                        <a:cubicBezTo>
                          <a:pt x="838492" y="-43966"/>
                          <a:pt x="1374519" y="-31704"/>
                          <a:pt x="1532174" y="113689"/>
                        </a:cubicBezTo>
                        <a:cubicBezTo>
                          <a:pt x="1689829" y="259082"/>
                          <a:pt x="1612754" y="803868"/>
                          <a:pt x="1542685" y="986047"/>
                        </a:cubicBezTo>
                        <a:cubicBezTo>
                          <a:pt x="1472616" y="1168226"/>
                          <a:pt x="1183581" y="1071882"/>
                          <a:pt x="1111760" y="1206765"/>
                        </a:cubicBezTo>
                        <a:cubicBezTo>
                          <a:pt x="1039939" y="1341648"/>
                          <a:pt x="1043443" y="1607910"/>
                          <a:pt x="1111760" y="1795344"/>
                        </a:cubicBezTo>
                        <a:cubicBezTo>
                          <a:pt x="1180077" y="1982778"/>
                          <a:pt x="1283430" y="2235027"/>
                          <a:pt x="1521664" y="2331372"/>
                        </a:cubicBezTo>
                        <a:cubicBezTo>
                          <a:pt x="1759898" y="2427717"/>
                          <a:pt x="2358988" y="2143937"/>
                          <a:pt x="2541167" y="2373413"/>
                        </a:cubicBezTo>
                        <a:cubicBezTo>
                          <a:pt x="2723346" y="2602889"/>
                          <a:pt x="2434312" y="3436710"/>
                          <a:pt x="2614740" y="3708227"/>
                        </a:cubicBezTo>
                        <a:cubicBezTo>
                          <a:pt x="2795168" y="3979744"/>
                          <a:pt x="3431043" y="4228488"/>
                          <a:pt x="3623733" y="4002516"/>
                        </a:cubicBezTo>
                        <a:cubicBezTo>
                          <a:pt x="3816423" y="3776544"/>
                          <a:pt x="3669278" y="2648433"/>
                          <a:pt x="3770878" y="2352392"/>
                        </a:cubicBezTo>
                        <a:cubicBezTo>
                          <a:pt x="3872478" y="2056351"/>
                          <a:pt x="4051154" y="2242033"/>
                          <a:pt x="4233333" y="2226268"/>
                        </a:cubicBezTo>
                        <a:cubicBezTo>
                          <a:pt x="4415512" y="2210503"/>
                          <a:pt x="4769361" y="2364654"/>
                          <a:pt x="4863954" y="2257799"/>
                        </a:cubicBezTo>
                        <a:cubicBezTo>
                          <a:pt x="4958547" y="2150944"/>
                          <a:pt x="4813154" y="1910958"/>
                          <a:pt x="4800892" y="1585137"/>
                        </a:cubicBezTo>
                        <a:cubicBezTo>
                          <a:pt x="4788630" y="1259316"/>
                          <a:pt x="4897236" y="521840"/>
                          <a:pt x="4790381" y="302875"/>
                        </a:cubicBezTo>
                        <a:cubicBezTo>
                          <a:pt x="4683526" y="83910"/>
                          <a:pt x="4159760" y="271344"/>
                          <a:pt x="4159760" y="271344"/>
                        </a:cubicBezTo>
                        <a:cubicBezTo>
                          <a:pt x="3860215" y="262585"/>
                          <a:pt x="3266381" y="122447"/>
                          <a:pt x="2993112" y="250323"/>
                        </a:cubicBezTo>
                        <a:cubicBezTo>
                          <a:pt x="2719843" y="378199"/>
                          <a:pt x="2570947" y="704020"/>
                          <a:pt x="2520147" y="1038599"/>
                        </a:cubicBezTo>
                        <a:cubicBezTo>
                          <a:pt x="2469347" y="1373178"/>
                          <a:pt x="2365995" y="2058103"/>
                          <a:pt x="2688312" y="2257799"/>
                        </a:cubicBezTo>
                        <a:cubicBezTo>
                          <a:pt x="3010629" y="2457495"/>
                          <a:pt x="3835691" y="2221013"/>
                          <a:pt x="4454050" y="2236778"/>
                        </a:cubicBezTo>
                        <a:cubicBezTo>
                          <a:pt x="5072409" y="2252543"/>
                          <a:pt x="6013085" y="2073868"/>
                          <a:pt x="6398464" y="2352392"/>
                        </a:cubicBezTo>
                        <a:cubicBezTo>
                          <a:pt x="6783843" y="2630916"/>
                          <a:pt x="6902961" y="3506778"/>
                          <a:pt x="6766326" y="3907923"/>
                        </a:cubicBezTo>
                        <a:cubicBezTo>
                          <a:pt x="6629692" y="4309068"/>
                          <a:pt x="6281098" y="4589344"/>
                          <a:pt x="5578657" y="4759261"/>
                        </a:cubicBezTo>
                        <a:cubicBezTo>
                          <a:pt x="4876216" y="4929178"/>
                          <a:pt x="3713947" y="4928302"/>
                          <a:pt x="2551678" y="4927427"/>
                        </a:cubicBez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D41A0E-E636-5C12-17C1-4ED8D6AC33CA}"/>
              </a:ext>
            </a:extLst>
          </p:cNvPr>
          <p:cNvSpPr txBox="1"/>
          <p:nvPr/>
        </p:nvSpPr>
        <p:spPr>
          <a:xfrm>
            <a:off x="2582916" y="965659"/>
            <a:ext cx="45247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shot Erkat U" panose="02000803060000020004" pitchFamily="2" charset="0"/>
              </a:rPr>
              <a:t>Example of typical route 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D55E71B-B454-9276-61BA-6877A24BFB99}"/>
              </a:ext>
            </a:extLst>
          </p:cNvPr>
          <p:cNvSpPr/>
          <p:nvPr/>
        </p:nvSpPr>
        <p:spPr>
          <a:xfrm>
            <a:off x="1712621" y="2625527"/>
            <a:ext cx="6393314" cy="4058142"/>
          </a:xfrm>
          <a:custGeom>
            <a:avLst/>
            <a:gdLst>
              <a:gd name="connsiteX0" fmla="*/ 231793 w 6393314"/>
              <a:gd name="connsiteY0" fmla="*/ 1326363 h 4058142"/>
              <a:gd name="connsiteX1" fmla="*/ 565 w 6393314"/>
              <a:gd name="connsiteY1" fmla="*/ 1200239 h 4058142"/>
              <a:gd name="connsiteX2" fmla="*/ 189751 w 6393314"/>
              <a:gd name="connsiteY2" fmla="*/ 874418 h 4058142"/>
              <a:gd name="connsiteX3" fmla="*/ 830882 w 6393314"/>
              <a:gd name="connsiteY3" fmla="*/ 685232 h 4058142"/>
              <a:gd name="connsiteX4" fmla="*/ 1493034 w 6393314"/>
              <a:gd name="connsiteY4" fmla="*/ 685232 h 4058142"/>
              <a:gd name="connsiteX5" fmla="*/ 2249779 w 6393314"/>
              <a:gd name="connsiteY5" fmla="*/ 695742 h 4058142"/>
              <a:gd name="connsiteX6" fmla="*/ 2996013 w 6393314"/>
              <a:gd name="connsiteY6" fmla="*/ 674721 h 4058142"/>
              <a:gd name="connsiteX7" fmla="*/ 3836841 w 6393314"/>
              <a:gd name="connsiteY7" fmla="*/ 643190 h 4058142"/>
              <a:gd name="connsiteX8" fmla="*/ 4719710 w 6393314"/>
              <a:gd name="connsiteY8" fmla="*/ 685232 h 4058142"/>
              <a:gd name="connsiteX9" fmla="*/ 5003489 w 6393314"/>
              <a:gd name="connsiteY9" fmla="*/ 275328 h 4058142"/>
              <a:gd name="connsiteX10" fmla="*/ 5928400 w 6393314"/>
              <a:gd name="connsiteY10" fmla="*/ 44101 h 4058142"/>
              <a:gd name="connsiteX11" fmla="*/ 6306772 w 6393314"/>
              <a:gd name="connsiteY11" fmla="*/ 1179218 h 4058142"/>
              <a:gd name="connsiteX12" fmla="*/ 6369834 w 6393314"/>
              <a:gd name="connsiteY12" fmla="*/ 2661176 h 4058142"/>
              <a:gd name="connsiteX13" fmla="*/ 5991462 w 6393314"/>
              <a:gd name="connsiteY13" fmla="*/ 3523025 h 4058142"/>
              <a:gd name="connsiteX14" fmla="*/ 4730220 w 6393314"/>
              <a:gd name="connsiteY14" fmla="*/ 3974970 h 4058142"/>
              <a:gd name="connsiteX15" fmla="*/ 3405917 w 6393314"/>
              <a:gd name="connsiteY15" fmla="*/ 3974970 h 4058142"/>
              <a:gd name="connsiteX16" fmla="*/ 1650689 w 6393314"/>
              <a:gd name="connsiteY16" fmla="*/ 4038032 h 4058142"/>
              <a:gd name="connsiteX17" fmla="*/ 1261807 w 6393314"/>
              <a:gd name="connsiteY17" fmla="*/ 3575576 h 4058142"/>
              <a:gd name="connsiteX18" fmla="*/ 2617641 w 6393314"/>
              <a:gd name="connsiteY18" fmla="*/ 3480983 h 4058142"/>
              <a:gd name="connsiteX19" fmla="*/ 3983986 w 6393314"/>
              <a:gd name="connsiteY19" fmla="*/ 3428432 h 4058142"/>
              <a:gd name="connsiteX20" fmla="*/ 4835324 w 6393314"/>
              <a:gd name="connsiteY20" fmla="*/ 3396901 h 4058142"/>
              <a:gd name="connsiteX21" fmla="*/ 5791765 w 6393314"/>
              <a:gd name="connsiteY21" fmla="*/ 3386390 h 4058142"/>
              <a:gd name="connsiteX22" fmla="*/ 5886358 w 6393314"/>
              <a:gd name="connsiteY22" fmla="*/ 2776790 h 4058142"/>
              <a:gd name="connsiteX23" fmla="*/ 6054524 w 6393314"/>
              <a:gd name="connsiteY23" fmla="*/ 1620652 h 4058142"/>
              <a:gd name="connsiteX24" fmla="*/ 5518496 w 6393314"/>
              <a:gd name="connsiteY24" fmla="*/ 1200239 h 4058142"/>
              <a:gd name="connsiteX25" fmla="*/ 5066551 w 6393314"/>
              <a:gd name="connsiteY25" fmla="*/ 1494528 h 4058142"/>
              <a:gd name="connsiteX26" fmla="*/ 3584593 w 6393314"/>
              <a:gd name="connsiteY26" fmla="*/ 1557590 h 4058142"/>
              <a:gd name="connsiteX27" fmla="*/ 1818855 w 6393314"/>
              <a:gd name="connsiteY27" fmla="*/ 1568101 h 4058142"/>
              <a:gd name="connsiteX28" fmla="*/ 1125172 w 6393314"/>
              <a:gd name="connsiteY28" fmla="*/ 1547080 h 4058142"/>
              <a:gd name="connsiteX29" fmla="*/ 641696 w 6393314"/>
              <a:gd name="connsiteY29" fmla="*/ 1347383 h 4058142"/>
              <a:gd name="connsiteX30" fmla="*/ 231793 w 6393314"/>
              <a:gd name="connsiteY30" fmla="*/ 1326363 h 4058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393314" h="4058142">
                <a:moveTo>
                  <a:pt x="231793" y="1326363"/>
                </a:moveTo>
                <a:cubicBezTo>
                  <a:pt x="124938" y="1301839"/>
                  <a:pt x="7572" y="1275563"/>
                  <a:pt x="565" y="1200239"/>
                </a:cubicBezTo>
                <a:cubicBezTo>
                  <a:pt x="-6442" y="1124915"/>
                  <a:pt x="51365" y="960252"/>
                  <a:pt x="189751" y="874418"/>
                </a:cubicBezTo>
                <a:cubicBezTo>
                  <a:pt x="328137" y="788584"/>
                  <a:pt x="613668" y="716763"/>
                  <a:pt x="830882" y="685232"/>
                </a:cubicBezTo>
                <a:cubicBezTo>
                  <a:pt x="1048096" y="653701"/>
                  <a:pt x="1493034" y="685232"/>
                  <a:pt x="1493034" y="685232"/>
                </a:cubicBezTo>
                <a:cubicBezTo>
                  <a:pt x="1729517" y="686984"/>
                  <a:pt x="1999283" y="697494"/>
                  <a:pt x="2249779" y="695742"/>
                </a:cubicBezTo>
                <a:cubicBezTo>
                  <a:pt x="2500276" y="693990"/>
                  <a:pt x="2731503" y="683480"/>
                  <a:pt x="2996013" y="674721"/>
                </a:cubicBezTo>
                <a:cubicBezTo>
                  <a:pt x="3260523" y="665962"/>
                  <a:pt x="3549558" y="641438"/>
                  <a:pt x="3836841" y="643190"/>
                </a:cubicBezTo>
                <a:cubicBezTo>
                  <a:pt x="4124124" y="644942"/>
                  <a:pt x="4525269" y="746542"/>
                  <a:pt x="4719710" y="685232"/>
                </a:cubicBezTo>
                <a:cubicBezTo>
                  <a:pt x="4914151" y="623922"/>
                  <a:pt x="4802041" y="382183"/>
                  <a:pt x="5003489" y="275328"/>
                </a:cubicBezTo>
                <a:cubicBezTo>
                  <a:pt x="5204937" y="168473"/>
                  <a:pt x="5711186" y="-106547"/>
                  <a:pt x="5928400" y="44101"/>
                </a:cubicBezTo>
                <a:cubicBezTo>
                  <a:pt x="6145614" y="194749"/>
                  <a:pt x="6233200" y="743039"/>
                  <a:pt x="6306772" y="1179218"/>
                </a:cubicBezTo>
                <a:cubicBezTo>
                  <a:pt x="6380344" y="1615397"/>
                  <a:pt x="6422386" y="2270542"/>
                  <a:pt x="6369834" y="2661176"/>
                </a:cubicBezTo>
                <a:cubicBezTo>
                  <a:pt x="6317282" y="3051810"/>
                  <a:pt x="6264731" y="3304059"/>
                  <a:pt x="5991462" y="3523025"/>
                </a:cubicBezTo>
                <a:cubicBezTo>
                  <a:pt x="5718193" y="3741991"/>
                  <a:pt x="5161144" y="3899646"/>
                  <a:pt x="4730220" y="3974970"/>
                </a:cubicBezTo>
                <a:cubicBezTo>
                  <a:pt x="4299296" y="4050294"/>
                  <a:pt x="3919172" y="3964460"/>
                  <a:pt x="3405917" y="3974970"/>
                </a:cubicBezTo>
                <a:cubicBezTo>
                  <a:pt x="2892662" y="3985480"/>
                  <a:pt x="2008041" y="4104598"/>
                  <a:pt x="1650689" y="4038032"/>
                </a:cubicBezTo>
                <a:cubicBezTo>
                  <a:pt x="1293337" y="3971466"/>
                  <a:pt x="1100648" y="3668418"/>
                  <a:pt x="1261807" y="3575576"/>
                </a:cubicBezTo>
                <a:cubicBezTo>
                  <a:pt x="1422966" y="3482734"/>
                  <a:pt x="2163945" y="3505507"/>
                  <a:pt x="2617641" y="3480983"/>
                </a:cubicBezTo>
                <a:cubicBezTo>
                  <a:pt x="3071337" y="3456459"/>
                  <a:pt x="3983986" y="3428432"/>
                  <a:pt x="3983986" y="3428432"/>
                </a:cubicBezTo>
                <a:lnTo>
                  <a:pt x="4835324" y="3396901"/>
                </a:lnTo>
                <a:cubicBezTo>
                  <a:pt x="5136620" y="3389894"/>
                  <a:pt x="5616593" y="3489742"/>
                  <a:pt x="5791765" y="3386390"/>
                </a:cubicBezTo>
                <a:cubicBezTo>
                  <a:pt x="5966937" y="3283038"/>
                  <a:pt x="5842565" y="3071080"/>
                  <a:pt x="5886358" y="2776790"/>
                </a:cubicBezTo>
                <a:cubicBezTo>
                  <a:pt x="5930151" y="2482500"/>
                  <a:pt x="6115834" y="1883410"/>
                  <a:pt x="6054524" y="1620652"/>
                </a:cubicBezTo>
                <a:cubicBezTo>
                  <a:pt x="5993214" y="1357894"/>
                  <a:pt x="5683158" y="1221260"/>
                  <a:pt x="5518496" y="1200239"/>
                </a:cubicBezTo>
                <a:cubicBezTo>
                  <a:pt x="5353834" y="1179218"/>
                  <a:pt x="5388868" y="1434969"/>
                  <a:pt x="5066551" y="1494528"/>
                </a:cubicBezTo>
                <a:cubicBezTo>
                  <a:pt x="4744234" y="1554087"/>
                  <a:pt x="4125876" y="1545328"/>
                  <a:pt x="3584593" y="1557590"/>
                </a:cubicBezTo>
                <a:cubicBezTo>
                  <a:pt x="3043310" y="1569852"/>
                  <a:pt x="2228758" y="1569853"/>
                  <a:pt x="1818855" y="1568101"/>
                </a:cubicBezTo>
                <a:cubicBezTo>
                  <a:pt x="1408952" y="1566349"/>
                  <a:pt x="1321365" y="1583866"/>
                  <a:pt x="1125172" y="1547080"/>
                </a:cubicBezTo>
                <a:cubicBezTo>
                  <a:pt x="928979" y="1510294"/>
                  <a:pt x="794096" y="1382418"/>
                  <a:pt x="641696" y="1347383"/>
                </a:cubicBezTo>
                <a:cubicBezTo>
                  <a:pt x="489296" y="1312348"/>
                  <a:pt x="338648" y="1350887"/>
                  <a:pt x="231793" y="1326363"/>
                </a:cubicBezTo>
                <a:close/>
              </a:path>
            </a:pathLst>
          </a:custGeom>
          <a:solidFill>
            <a:schemeClr val="accent2">
              <a:lumMod val="75000"/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7EF3BA7-2141-1BF3-EBD3-4D1057B6F0FE}"/>
              </a:ext>
            </a:extLst>
          </p:cNvPr>
          <p:cNvSpPr/>
          <p:nvPr/>
        </p:nvSpPr>
        <p:spPr>
          <a:xfrm>
            <a:off x="2217482" y="3514153"/>
            <a:ext cx="5098643" cy="537813"/>
          </a:xfrm>
          <a:custGeom>
            <a:avLst/>
            <a:gdLst>
              <a:gd name="connsiteX0" fmla="*/ 1566242 w 5098643"/>
              <a:gd name="connsiteY0" fmla="*/ 490288 h 537813"/>
              <a:gd name="connsiteX1" fmla="*/ 599290 w 5098643"/>
              <a:gd name="connsiteY1" fmla="*/ 437737 h 537813"/>
              <a:gd name="connsiteX2" fmla="*/ 201 w 5098643"/>
              <a:gd name="connsiteY2" fmla="*/ 374675 h 537813"/>
              <a:gd name="connsiteX3" fmla="*/ 546739 w 5098643"/>
              <a:gd name="connsiteY3" fmla="*/ 80385 h 537813"/>
              <a:gd name="connsiteX4" fmla="*/ 1660835 w 5098643"/>
              <a:gd name="connsiteY4" fmla="*/ 6813 h 537813"/>
              <a:gd name="connsiteX5" fmla="*/ 2501663 w 5098643"/>
              <a:gd name="connsiteY5" fmla="*/ 6813 h 537813"/>
              <a:gd name="connsiteX6" fmla="*/ 3384532 w 5098643"/>
              <a:gd name="connsiteY6" fmla="*/ 38344 h 537813"/>
              <a:gd name="connsiteX7" fmla="*/ 4593221 w 5098643"/>
              <a:gd name="connsiteY7" fmla="*/ 38344 h 537813"/>
              <a:gd name="connsiteX8" fmla="*/ 5097718 w 5098643"/>
              <a:gd name="connsiteY8" fmla="*/ 206509 h 537813"/>
              <a:gd name="connsiteX9" fmla="*/ 4698325 w 5098643"/>
              <a:gd name="connsiteY9" fmla="*/ 511309 h 537813"/>
              <a:gd name="connsiteX10" fmla="*/ 4004642 w 5098643"/>
              <a:gd name="connsiteY10" fmla="*/ 511309 h 537813"/>
              <a:gd name="connsiteX11" fmla="*/ 2554215 w 5098643"/>
              <a:gd name="connsiteY11" fmla="*/ 416716 h 537813"/>
              <a:gd name="connsiteX12" fmla="*/ 1566242 w 5098643"/>
              <a:gd name="connsiteY12" fmla="*/ 490288 h 537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098643" h="537813">
                <a:moveTo>
                  <a:pt x="1566242" y="490288"/>
                </a:moveTo>
                <a:cubicBezTo>
                  <a:pt x="1240421" y="493791"/>
                  <a:pt x="860297" y="457006"/>
                  <a:pt x="599290" y="437737"/>
                </a:cubicBezTo>
                <a:cubicBezTo>
                  <a:pt x="338283" y="418468"/>
                  <a:pt x="8959" y="434234"/>
                  <a:pt x="201" y="374675"/>
                </a:cubicBezTo>
                <a:cubicBezTo>
                  <a:pt x="-8557" y="315116"/>
                  <a:pt x="269967" y="141695"/>
                  <a:pt x="546739" y="80385"/>
                </a:cubicBezTo>
                <a:cubicBezTo>
                  <a:pt x="823511" y="19075"/>
                  <a:pt x="1335014" y="19075"/>
                  <a:pt x="1660835" y="6813"/>
                </a:cubicBezTo>
                <a:cubicBezTo>
                  <a:pt x="1986656" y="-5449"/>
                  <a:pt x="2214380" y="1558"/>
                  <a:pt x="2501663" y="6813"/>
                </a:cubicBezTo>
                <a:cubicBezTo>
                  <a:pt x="2788946" y="12068"/>
                  <a:pt x="3035939" y="33089"/>
                  <a:pt x="3384532" y="38344"/>
                </a:cubicBezTo>
                <a:cubicBezTo>
                  <a:pt x="3733125" y="43599"/>
                  <a:pt x="4307690" y="10317"/>
                  <a:pt x="4593221" y="38344"/>
                </a:cubicBezTo>
                <a:cubicBezTo>
                  <a:pt x="4878752" y="66371"/>
                  <a:pt x="5080201" y="127682"/>
                  <a:pt x="5097718" y="206509"/>
                </a:cubicBezTo>
                <a:cubicBezTo>
                  <a:pt x="5115235" y="285336"/>
                  <a:pt x="4880504" y="460509"/>
                  <a:pt x="4698325" y="511309"/>
                </a:cubicBezTo>
                <a:cubicBezTo>
                  <a:pt x="4516146" y="562109"/>
                  <a:pt x="4361994" y="527075"/>
                  <a:pt x="4004642" y="511309"/>
                </a:cubicBezTo>
                <a:cubicBezTo>
                  <a:pt x="3647290" y="495544"/>
                  <a:pt x="2964118" y="416716"/>
                  <a:pt x="2554215" y="416716"/>
                </a:cubicBezTo>
                <a:cubicBezTo>
                  <a:pt x="2144312" y="416716"/>
                  <a:pt x="1892063" y="486785"/>
                  <a:pt x="1566242" y="490288"/>
                </a:cubicBezTo>
                <a:close/>
              </a:path>
            </a:pathLst>
          </a:custGeom>
          <a:solidFill>
            <a:srgbClr val="B30101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7394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B0AFAF-9275-5406-53D9-BB6A7281BD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A02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BD6873-A825-12B6-D46C-1F4F6C25C9ED}"/>
              </a:ext>
            </a:extLst>
          </p:cNvPr>
          <p:cNvSpPr txBox="1"/>
          <p:nvPr/>
        </p:nvSpPr>
        <p:spPr>
          <a:xfrm>
            <a:off x="11319163" y="100299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FAEDAC-A1E9-E469-AD6B-0A2E5DBCEE07}"/>
              </a:ext>
            </a:extLst>
          </p:cNvPr>
          <p:cNvSpPr txBox="1"/>
          <p:nvPr/>
        </p:nvSpPr>
        <p:spPr>
          <a:xfrm>
            <a:off x="11163268" y="250324"/>
            <a:ext cx="120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chemeClr val="bg1"/>
                </a:solidFill>
              </a:rPr>
              <a:t>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3ACC05-0682-5B89-D1B9-706B18D143FA}"/>
              </a:ext>
            </a:extLst>
          </p:cNvPr>
          <p:cNvSpPr txBox="1"/>
          <p:nvPr/>
        </p:nvSpPr>
        <p:spPr>
          <a:xfrm>
            <a:off x="11383615" y="507126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solidFill>
                  <a:schemeClr val="bg1"/>
                </a:solidFill>
              </a:rPr>
              <a:t>Strategy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6B7A42-7FA5-D42B-0ED0-22ED24C1CF78}"/>
              </a:ext>
            </a:extLst>
          </p:cNvPr>
          <p:cNvSpPr txBox="1"/>
          <p:nvPr/>
        </p:nvSpPr>
        <p:spPr>
          <a:xfrm>
            <a:off x="11450120" y="720280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solidFill>
                  <a:schemeClr val="bg1"/>
                </a:solidFill>
              </a:rPr>
              <a:t>Impact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7CD8BC-4493-C475-7666-B8524511B555}"/>
              </a:ext>
            </a:extLst>
          </p:cNvPr>
          <p:cNvSpPr txBox="1"/>
          <p:nvPr/>
        </p:nvSpPr>
        <p:spPr>
          <a:xfrm>
            <a:off x="0" y="67372"/>
            <a:ext cx="1145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shot Erkat U" panose="02000803060000020004" pitchFamily="2" charset="0"/>
              </a:rPr>
              <a:t>Site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D80572-B466-0DF8-8449-1530AF3F5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13" y="569316"/>
            <a:ext cx="2001399" cy="106403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1A2A834-7CDF-0E85-975F-E524710D92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697" y="5380603"/>
            <a:ext cx="1372573" cy="121752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4178E41-2A7A-ABE5-1BD8-ADA29CD476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539" y="2886787"/>
            <a:ext cx="2685239" cy="260250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81B3332-0247-8E6F-C252-DFC57FD378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586" y="541894"/>
            <a:ext cx="2685239" cy="220289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29DFB64-16A3-6D05-F6D7-31E28912C9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882" y="5643225"/>
            <a:ext cx="1265177" cy="98871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F4C9EF9-EF66-F6B9-506A-109DFA067D9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973" y="1555793"/>
            <a:ext cx="1235388" cy="97458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614D681-4E5E-4E68-B3D6-BE40ACD8FD9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358" y="2643033"/>
            <a:ext cx="2093771" cy="258813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E47B6D0-C4C8-418D-E977-7C2BB9975CB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6376" y="2886787"/>
            <a:ext cx="2853097" cy="369925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1D30F78-66C0-9A74-3225-B29C3DB7564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440019" y="5482880"/>
            <a:ext cx="1007699" cy="130117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52DDA1D-D2E3-CDC8-18A8-75046A76773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87123" y="1605202"/>
            <a:ext cx="1785814" cy="202801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89F7AEC-435C-71A6-A5C4-3BB0A6E5A10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845" y="545824"/>
            <a:ext cx="1246516" cy="917421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F2DF3C5-8C29-5569-09BA-90296BCE967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4804" y="1143568"/>
            <a:ext cx="1346408" cy="1395531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B5A11D44-3A65-F543-DB3B-2F266251B8D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023" y="4871545"/>
            <a:ext cx="2028013" cy="176577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995DA47-70E9-6A86-97C8-61E6AB07AF6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14" y="3597487"/>
            <a:ext cx="2001399" cy="118110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2E86ACDA-D7C8-42B2-6AB4-BC2F138DF76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2324" y="541894"/>
            <a:ext cx="2897150" cy="220289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CC33BE0F-C1CD-83A0-5F64-AAB79C4CC47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7381" y="5368521"/>
            <a:ext cx="1346408" cy="1241688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7DE800B1-419A-DFCB-9626-A2078DD99CE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349265" y="4219573"/>
            <a:ext cx="884068" cy="1003969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1F4E6093-F30F-8D33-E311-1AB90554DF84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42"/>
          <a:stretch/>
        </p:blipFill>
        <p:spPr>
          <a:xfrm flipH="1">
            <a:off x="10385048" y="2677753"/>
            <a:ext cx="1205950" cy="143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691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B0AFAF-9275-5406-53D9-BB6A7281BD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A02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BD6873-A825-12B6-D46C-1F4F6C25C9ED}"/>
              </a:ext>
            </a:extLst>
          </p:cNvPr>
          <p:cNvSpPr txBox="1"/>
          <p:nvPr/>
        </p:nvSpPr>
        <p:spPr>
          <a:xfrm>
            <a:off x="11319163" y="100299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FAEDAC-A1E9-E469-AD6B-0A2E5DBCEE07}"/>
              </a:ext>
            </a:extLst>
          </p:cNvPr>
          <p:cNvSpPr txBox="1"/>
          <p:nvPr/>
        </p:nvSpPr>
        <p:spPr>
          <a:xfrm>
            <a:off x="11163268" y="250324"/>
            <a:ext cx="120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chemeClr val="bg1"/>
                </a:solidFill>
              </a:rPr>
              <a:t>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3ACC05-0682-5B89-D1B9-706B18D143FA}"/>
              </a:ext>
            </a:extLst>
          </p:cNvPr>
          <p:cNvSpPr txBox="1"/>
          <p:nvPr/>
        </p:nvSpPr>
        <p:spPr>
          <a:xfrm>
            <a:off x="11383615" y="507126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solidFill>
                  <a:schemeClr val="bg1"/>
                </a:solidFill>
              </a:rPr>
              <a:t>Strategy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6B7A42-7FA5-D42B-0ED0-22ED24C1CF78}"/>
              </a:ext>
            </a:extLst>
          </p:cNvPr>
          <p:cNvSpPr txBox="1"/>
          <p:nvPr/>
        </p:nvSpPr>
        <p:spPr>
          <a:xfrm>
            <a:off x="11450120" y="720280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solidFill>
                  <a:schemeClr val="bg1"/>
                </a:solidFill>
              </a:rPr>
              <a:t>Impact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7CD8BC-4493-C475-7666-B8524511B555}"/>
              </a:ext>
            </a:extLst>
          </p:cNvPr>
          <p:cNvSpPr txBox="1"/>
          <p:nvPr/>
        </p:nvSpPr>
        <p:spPr>
          <a:xfrm>
            <a:off x="0" y="67372"/>
            <a:ext cx="1145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shot Erkat U" panose="02000803060000020004" pitchFamily="2" charset="0"/>
              </a:rPr>
              <a:t>Site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D80572-B466-0DF8-8449-1530AF3F5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453" y="4824248"/>
            <a:ext cx="3663717" cy="19478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1A2A834-7CDF-0E85-975F-E524710D92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2" y="657216"/>
            <a:ext cx="6858000" cy="60833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9E27629-C53C-88E0-7618-5E2EC1C70E2F}"/>
              </a:ext>
            </a:extLst>
          </p:cNvPr>
          <p:cNvSpPr/>
          <p:nvPr/>
        </p:nvSpPr>
        <p:spPr>
          <a:xfrm>
            <a:off x="907446" y="2231668"/>
            <a:ext cx="4894345" cy="2841435"/>
          </a:xfrm>
          <a:custGeom>
            <a:avLst/>
            <a:gdLst>
              <a:gd name="connsiteX0" fmla="*/ 196140 w 4894345"/>
              <a:gd name="connsiteY0" fmla="*/ 779546 h 2841435"/>
              <a:gd name="connsiteX1" fmla="*/ 22720 w 4894345"/>
              <a:gd name="connsiteY1" fmla="*/ 1284042 h 2841435"/>
              <a:gd name="connsiteX2" fmla="*/ 54251 w 4894345"/>
              <a:gd name="connsiteY2" fmla="*/ 2608346 h 2841435"/>
              <a:gd name="connsiteX3" fmla="*/ 495685 w 4894345"/>
              <a:gd name="connsiteY3" fmla="*/ 2829063 h 2841435"/>
              <a:gd name="connsiteX4" fmla="*/ 1220899 w 4894345"/>
              <a:gd name="connsiteY4" fmla="*/ 2766001 h 2841435"/>
              <a:gd name="connsiteX5" fmla="*/ 1268195 w 4894345"/>
              <a:gd name="connsiteY5" fmla="*/ 2371863 h 2841435"/>
              <a:gd name="connsiteX6" fmla="*/ 1220899 w 4894345"/>
              <a:gd name="connsiteY6" fmla="*/ 1615118 h 2841435"/>
              <a:gd name="connsiteX7" fmla="*/ 1551975 w 4894345"/>
              <a:gd name="connsiteY7" fmla="*/ 1473229 h 2841435"/>
              <a:gd name="connsiteX8" fmla="*/ 3254651 w 4894345"/>
              <a:gd name="connsiteY8" fmla="*/ 1410166 h 2841435"/>
              <a:gd name="connsiteX9" fmla="*/ 3506899 w 4894345"/>
              <a:gd name="connsiteY9" fmla="*/ 1378635 h 2841435"/>
              <a:gd name="connsiteX10" fmla="*/ 3554195 w 4894345"/>
              <a:gd name="connsiteY10" fmla="*/ 2214208 h 2841435"/>
              <a:gd name="connsiteX11" fmla="*/ 3538430 w 4894345"/>
              <a:gd name="connsiteY11" fmla="*/ 2608346 h 2841435"/>
              <a:gd name="connsiteX12" fmla="*/ 4610485 w 4894345"/>
              <a:gd name="connsiteY12" fmla="*/ 2576815 h 2841435"/>
              <a:gd name="connsiteX13" fmla="*/ 4894264 w 4894345"/>
              <a:gd name="connsiteY13" fmla="*/ 1977725 h 2841435"/>
              <a:gd name="connsiteX14" fmla="*/ 4594720 w 4894345"/>
              <a:gd name="connsiteY14" fmla="*/ 716484 h 2841435"/>
              <a:gd name="connsiteX15" fmla="*/ 3711851 w 4894345"/>
              <a:gd name="connsiteY15" fmla="*/ 38566 h 2841435"/>
              <a:gd name="connsiteX16" fmla="*/ 2608264 w 4894345"/>
              <a:gd name="connsiteY16" fmla="*/ 85863 h 2841435"/>
              <a:gd name="connsiteX17" fmla="*/ 1142071 w 4894345"/>
              <a:gd name="connsiteY17" fmla="*/ 101629 h 2841435"/>
              <a:gd name="connsiteX18" fmla="*/ 196140 w 4894345"/>
              <a:gd name="connsiteY18" fmla="*/ 779546 h 284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894345" h="2841435">
                <a:moveTo>
                  <a:pt x="196140" y="779546"/>
                </a:moveTo>
                <a:cubicBezTo>
                  <a:pt x="9581" y="976615"/>
                  <a:pt x="46368" y="979242"/>
                  <a:pt x="22720" y="1284042"/>
                </a:cubicBezTo>
                <a:cubicBezTo>
                  <a:pt x="-928" y="1588842"/>
                  <a:pt x="-24577" y="2350842"/>
                  <a:pt x="54251" y="2608346"/>
                </a:cubicBezTo>
                <a:cubicBezTo>
                  <a:pt x="133079" y="2865850"/>
                  <a:pt x="301244" y="2802787"/>
                  <a:pt x="495685" y="2829063"/>
                </a:cubicBezTo>
                <a:cubicBezTo>
                  <a:pt x="690126" y="2855339"/>
                  <a:pt x="1092147" y="2842201"/>
                  <a:pt x="1220899" y="2766001"/>
                </a:cubicBezTo>
                <a:cubicBezTo>
                  <a:pt x="1349651" y="2689801"/>
                  <a:pt x="1268195" y="2563677"/>
                  <a:pt x="1268195" y="2371863"/>
                </a:cubicBezTo>
                <a:cubicBezTo>
                  <a:pt x="1268195" y="2180049"/>
                  <a:pt x="1173602" y="1764890"/>
                  <a:pt x="1220899" y="1615118"/>
                </a:cubicBezTo>
                <a:cubicBezTo>
                  <a:pt x="1268196" y="1465346"/>
                  <a:pt x="1213016" y="1507388"/>
                  <a:pt x="1551975" y="1473229"/>
                </a:cubicBezTo>
                <a:cubicBezTo>
                  <a:pt x="1890934" y="1439070"/>
                  <a:pt x="2928830" y="1425932"/>
                  <a:pt x="3254651" y="1410166"/>
                </a:cubicBezTo>
                <a:cubicBezTo>
                  <a:pt x="3580472" y="1394400"/>
                  <a:pt x="3456975" y="1244628"/>
                  <a:pt x="3506899" y="1378635"/>
                </a:cubicBezTo>
                <a:cubicBezTo>
                  <a:pt x="3556823" y="1512642"/>
                  <a:pt x="3548940" y="2009256"/>
                  <a:pt x="3554195" y="2214208"/>
                </a:cubicBezTo>
                <a:cubicBezTo>
                  <a:pt x="3559450" y="2419160"/>
                  <a:pt x="3362382" y="2547912"/>
                  <a:pt x="3538430" y="2608346"/>
                </a:cubicBezTo>
                <a:cubicBezTo>
                  <a:pt x="3714478" y="2668781"/>
                  <a:pt x="4384513" y="2681918"/>
                  <a:pt x="4610485" y="2576815"/>
                </a:cubicBezTo>
                <a:cubicBezTo>
                  <a:pt x="4836457" y="2471712"/>
                  <a:pt x="4896892" y="2287780"/>
                  <a:pt x="4894264" y="1977725"/>
                </a:cubicBezTo>
                <a:cubicBezTo>
                  <a:pt x="4891637" y="1667670"/>
                  <a:pt x="4791789" y="1039677"/>
                  <a:pt x="4594720" y="716484"/>
                </a:cubicBezTo>
                <a:cubicBezTo>
                  <a:pt x="4397651" y="393291"/>
                  <a:pt x="4042927" y="143669"/>
                  <a:pt x="3711851" y="38566"/>
                </a:cubicBezTo>
                <a:cubicBezTo>
                  <a:pt x="3380775" y="-66538"/>
                  <a:pt x="3036561" y="75352"/>
                  <a:pt x="2608264" y="85863"/>
                </a:cubicBezTo>
                <a:cubicBezTo>
                  <a:pt x="2179967" y="96373"/>
                  <a:pt x="1549347" y="-19240"/>
                  <a:pt x="1142071" y="101629"/>
                </a:cubicBezTo>
                <a:cubicBezTo>
                  <a:pt x="734795" y="222498"/>
                  <a:pt x="382699" y="582477"/>
                  <a:pt x="196140" y="779546"/>
                </a:cubicBezTo>
                <a:close/>
              </a:path>
            </a:pathLst>
          </a:cu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16695B-9674-1243-D4EC-0B5B2040698D}"/>
              </a:ext>
            </a:extLst>
          </p:cNvPr>
          <p:cNvSpPr txBox="1"/>
          <p:nvPr/>
        </p:nvSpPr>
        <p:spPr>
          <a:xfrm>
            <a:off x="7506565" y="5536538"/>
            <a:ext cx="1135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8C0783-EF93-5E4F-1BE7-10738E33B828}"/>
              </a:ext>
            </a:extLst>
          </p:cNvPr>
          <p:cNvSpPr txBox="1"/>
          <p:nvPr/>
        </p:nvSpPr>
        <p:spPr>
          <a:xfrm>
            <a:off x="8449453" y="4446625"/>
            <a:ext cx="2945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  <a:latin typeface="Bahnschrift" panose="020B0502040204020203" pitchFamily="34" charset="0"/>
              </a:rPr>
              <a:t>2000–4000m</a:t>
            </a:r>
            <a:endParaRPr lang="en-US" b="1" dirty="0">
              <a:latin typeface="Bahnschrif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6179BA-5271-CDBB-4667-446E332C72F1}"/>
              </a:ext>
            </a:extLst>
          </p:cNvPr>
          <p:cNvSpPr txBox="1"/>
          <p:nvPr/>
        </p:nvSpPr>
        <p:spPr>
          <a:xfrm>
            <a:off x="5503480" y="218792"/>
            <a:ext cx="2945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Bahnschrift" panose="020B0502040204020203" pitchFamily="34" charset="0"/>
              </a:rPr>
              <a:t>6000</a:t>
            </a:r>
            <a:r>
              <a:rPr lang="en-US" b="1" i="0" dirty="0">
                <a:solidFill>
                  <a:srgbClr val="FFFFFF"/>
                </a:solidFill>
                <a:effectLst/>
                <a:latin typeface="Bahnschrift" panose="020B0502040204020203" pitchFamily="34" charset="0"/>
              </a:rPr>
              <a:t>–12000m</a:t>
            </a:r>
            <a:endParaRPr lang="en-US" b="1" dirty="0">
              <a:latin typeface="Bahnschrift" panose="020B0502040204020203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D9FAF89-05C0-5A1E-44A3-F00097898928}"/>
              </a:ext>
            </a:extLst>
          </p:cNvPr>
          <p:cNvGrpSpPr/>
          <p:nvPr/>
        </p:nvGrpSpPr>
        <p:grpSpPr>
          <a:xfrm>
            <a:off x="7739844" y="1622690"/>
            <a:ext cx="1953224" cy="618022"/>
            <a:chOff x="8373190" y="1654365"/>
            <a:chExt cx="2945973" cy="61802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20B04BC-422E-B738-EF6D-C87E30C9D239}"/>
                </a:ext>
              </a:extLst>
            </p:cNvPr>
            <p:cNvSpPr txBox="1"/>
            <p:nvPr/>
          </p:nvSpPr>
          <p:spPr>
            <a:xfrm>
              <a:off x="8373190" y="1903055"/>
              <a:ext cx="29459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i="0" dirty="0">
                  <a:solidFill>
                    <a:srgbClr val="FFFFFF"/>
                  </a:solidFill>
                  <a:effectLst/>
                  <a:latin typeface="Bahnschrift" panose="020B0502040204020203" pitchFamily="34" charset="0"/>
                </a:rPr>
                <a:t>8000–16000m</a:t>
              </a:r>
              <a:endParaRPr lang="en-US" b="1" dirty="0">
                <a:latin typeface="Bahnschrift" panose="020B0502040204020203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6A607CB-0ECD-81BC-49AC-96880941220B}"/>
                </a:ext>
              </a:extLst>
            </p:cNvPr>
            <p:cNvSpPr txBox="1"/>
            <p:nvPr/>
          </p:nvSpPr>
          <p:spPr>
            <a:xfrm>
              <a:off x="8655879" y="1654365"/>
              <a:ext cx="23805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The interval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EC5E49FF-BADA-C310-6885-10FEAB2CEC80}"/>
              </a:ext>
            </a:extLst>
          </p:cNvPr>
          <p:cNvSpPr txBox="1"/>
          <p:nvPr/>
        </p:nvSpPr>
        <p:spPr>
          <a:xfrm>
            <a:off x="7760966" y="2411375"/>
            <a:ext cx="4415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AND WE CAN USE IT TOO. . . </a:t>
            </a:r>
          </a:p>
        </p:txBody>
      </p:sp>
    </p:spTree>
    <p:extLst>
      <p:ext uri="{BB962C8B-B14F-4D97-AF65-F5344CB8AC3E}">
        <p14:creationId xmlns:p14="http://schemas.microsoft.com/office/powerpoint/2010/main" val="1675888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B0AFAF-9275-5406-53D9-BB6A7281BD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A02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BD6873-A825-12B6-D46C-1F4F6C25C9ED}"/>
              </a:ext>
            </a:extLst>
          </p:cNvPr>
          <p:cNvSpPr txBox="1"/>
          <p:nvPr/>
        </p:nvSpPr>
        <p:spPr>
          <a:xfrm>
            <a:off x="11319163" y="100299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FAEDAC-A1E9-E469-AD6B-0A2E5DBCEE07}"/>
              </a:ext>
            </a:extLst>
          </p:cNvPr>
          <p:cNvSpPr txBox="1"/>
          <p:nvPr/>
        </p:nvSpPr>
        <p:spPr>
          <a:xfrm>
            <a:off x="11163268" y="250324"/>
            <a:ext cx="120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chemeClr val="bg1"/>
                </a:solidFill>
              </a:rPr>
              <a:t>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3ACC05-0682-5B89-D1B9-706B18D143FA}"/>
              </a:ext>
            </a:extLst>
          </p:cNvPr>
          <p:cNvSpPr txBox="1"/>
          <p:nvPr/>
        </p:nvSpPr>
        <p:spPr>
          <a:xfrm>
            <a:off x="11383615" y="507126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solidFill>
                  <a:schemeClr val="bg1"/>
                </a:solidFill>
              </a:rPr>
              <a:t>Strategy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6B7A42-7FA5-D42B-0ED0-22ED24C1CF78}"/>
              </a:ext>
            </a:extLst>
          </p:cNvPr>
          <p:cNvSpPr txBox="1"/>
          <p:nvPr/>
        </p:nvSpPr>
        <p:spPr>
          <a:xfrm>
            <a:off x="11450120" y="720280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solidFill>
                  <a:schemeClr val="bg1"/>
                </a:solidFill>
              </a:rPr>
              <a:t>Impact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7CD8BC-4493-C475-7666-B8524511B555}"/>
              </a:ext>
            </a:extLst>
          </p:cNvPr>
          <p:cNvSpPr txBox="1"/>
          <p:nvPr/>
        </p:nvSpPr>
        <p:spPr>
          <a:xfrm>
            <a:off x="0" y="67372"/>
            <a:ext cx="1145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shot Erkat U" panose="02000803060000020004" pitchFamily="2" charset="0"/>
              </a:rPr>
              <a:t>Site Analysis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00CC1E3-316B-0C02-45A5-822F876ABD69}"/>
              </a:ext>
            </a:extLst>
          </p:cNvPr>
          <p:cNvSpPr txBox="1"/>
          <p:nvPr/>
        </p:nvSpPr>
        <p:spPr>
          <a:xfrm>
            <a:off x="2052331" y="890987"/>
            <a:ext cx="52408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Food Products | Non-Food Products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039D837-70D2-5448-4279-8C7D231B246C}"/>
              </a:ext>
            </a:extLst>
          </p:cNvPr>
          <p:cNvGrpSpPr/>
          <p:nvPr/>
        </p:nvGrpSpPr>
        <p:grpSpPr>
          <a:xfrm>
            <a:off x="131837" y="1329274"/>
            <a:ext cx="9480332" cy="5366725"/>
            <a:chOff x="131837" y="1329274"/>
            <a:chExt cx="9480332" cy="536672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FD80572-B466-0DF8-8449-1530AF3F5B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1838" y="1343999"/>
              <a:ext cx="9480331" cy="5352000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BB4BA39-3110-3808-6577-4042D2625E9B}"/>
                </a:ext>
              </a:extLst>
            </p:cNvPr>
            <p:cNvSpPr/>
            <p:nvPr/>
          </p:nvSpPr>
          <p:spPr>
            <a:xfrm>
              <a:off x="2506717" y="3310759"/>
              <a:ext cx="5486400" cy="551793"/>
            </a:xfrm>
            <a:prstGeom prst="rect">
              <a:avLst/>
            </a:prstGeom>
            <a:solidFill>
              <a:srgbClr val="006C31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D4C44C1-CD21-E94E-6814-7EF58C5F3644}"/>
                </a:ext>
              </a:extLst>
            </p:cNvPr>
            <p:cNvSpPr/>
            <p:nvPr/>
          </p:nvSpPr>
          <p:spPr>
            <a:xfrm>
              <a:off x="2867561" y="3862552"/>
              <a:ext cx="3990440" cy="252248"/>
            </a:xfrm>
            <a:prstGeom prst="rect">
              <a:avLst/>
            </a:prstGeom>
            <a:solidFill>
              <a:srgbClr val="006C31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0991D76-9249-C47F-FBA6-EB561CEF24AB}"/>
                </a:ext>
              </a:extLst>
            </p:cNvPr>
            <p:cNvSpPr/>
            <p:nvPr/>
          </p:nvSpPr>
          <p:spPr>
            <a:xfrm>
              <a:off x="1818195" y="3551464"/>
              <a:ext cx="688522" cy="311088"/>
            </a:xfrm>
            <a:prstGeom prst="rect">
              <a:avLst/>
            </a:prstGeom>
            <a:solidFill>
              <a:srgbClr val="006C31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09C59D9-BFCE-355A-7652-6C32ACAD31E5}"/>
                </a:ext>
              </a:extLst>
            </p:cNvPr>
            <p:cNvSpPr/>
            <p:nvPr/>
          </p:nvSpPr>
          <p:spPr>
            <a:xfrm>
              <a:off x="6794209" y="2751627"/>
              <a:ext cx="1198908" cy="559132"/>
            </a:xfrm>
            <a:prstGeom prst="rect">
              <a:avLst/>
            </a:prstGeom>
            <a:solidFill>
              <a:srgbClr val="006C31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78C53CF-8F20-84F6-40AC-648DFD1750F0}"/>
                </a:ext>
              </a:extLst>
            </p:cNvPr>
            <p:cNvSpPr/>
            <p:nvPr/>
          </p:nvSpPr>
          <p:spPr>
            <a:xfrm>
              <a:off x="7603735" y="1485900"/>
              <a:ext cx="389382" cy="1265727"/>
            </a:xfrm>
            <a:prstGeom prst="rect">
              <a:avLst/>
            </a:prstGeom>
            <a:solidFill>
              <a:srgbClr val="006C31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208AA23-6397-BC6E-7F75-07C4D27387C0}"/>
                </a:ext>
              </a:extLst>
            </p:cNvPr>
            <p:cNvSpPr/>
            <p:nvPr/>
          </p:nvSpPr>
          <p:spPr>
            <a:xfrm>
              <a:off x="7603735" y="3862552"/>
              <a:ext cx="389382" cy="2521919"/>
            </a:xfrm>
            <a:prstGeom prst="rect">
              <a:avLst/>
            </a:prstGeom>
            <a:solidFill>
              <a:srgbClr val="006C31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646D230-6B8B-7A74-6820-42580E7973AB}"/>
                </a:ext>
              </a:extLst>
            </p:cNvPr>
            <p:cNvSpPr/>
            <p:nvPr/>
          </p:nvSpPr>
          <p:spPr>
            <a:xfrm>
              <a:off x="7993117" y="4767372"/>
              <a:ext cx="131838" cy="1502800"/>
            </a:xfrm>
            <a:prstGeom prst="rect">
              <a:avLst/>
            </a:prstGeom>
            <a:solidFill>
              <a:srgbClr val="006C31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4AA2AFB-CD44-0D08-6414-EC66AA729367}"/>
                </a:ext>
              </a:extLst>
            </p:cNvPr>
            <p:cNvSpPr/>
            <p:nvPr/>
          </p:nvSpPr>
          <p:spPr>
            <a:xfrm rot="5400000">
              <a:off x="5972065" y="4924572"/>
              <a:ext cx="551794" cy="2711545"/>
            </a:xfrm>
            <a:prstGeom prst="rect">
              <a:avLst/>
            </a:prstGeom>
            <a:solidFill>
              <a:srgbClr val="006C31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BE020C1C-264F-48F6-C6E7-E735D8F4F946}"/>
                </a:ext>
              </a:extLst>
            </p:cNvPr>
            <p:cNvSpPr/>
            <p:nvPr/>
          </p:nvSpPr>
          <p:spPr>
            <a:xfrm>
              <a:off x="5173942" y="5980722"/>
              <a:ext cx="3140" cy="11864"/>
            </a:xfrm>
            <a:custGeom>
              <a:avLst/>
              <a:gdLst>
                <a:gd name="connsiteX0" fmla="*/ 0 w 3140"/>
                <a:gd name="connsiteY0" fmla="*/ 0 h 11864"/>
                <a:gd name="connsiteX1" fmla="*/ 3140 w 3140"/>
                <a:gd name="connsiteY1" fmla="*/ 0 h 11864"/>
                <a:gd name="connsiteX2" fmla="*/ 2215 w 3140"/>
                <a:gd name="connsiteY2" fmla="*/ 11864 h 11864"/>
                <a:gd name="connsiteX3" fmla="*/ 0 w 3140"/>
                <a:gd name="connsiteY3" fmla="*/ 0 h 1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0" h="11864">
                  <a:moveTo>
                    <a:pt x="0" y="0"/>
                  </a:moveTo>
                  <a:lnTo>
                    <a:pt x="3140" y="0"/>
                  </a:lnTo>
                  <a:lnTo>
                    <a:pt x="2215" y="1186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0B54B3D0-7F1D-7E19-25F0-DE169DFE7E7B}"/>
                </a:ext>
              </a:extLst>
            </p:cNvPr>
            <p:cNvGrpSpPr/>
            <p:nvPr/>
          </p:nvGrpSpPr>
          <p:grpSpPr>
            <a:xfrm>
              <a:off x="131837" y="1329274"/>
              <a:ext cx="9480331" cy="5366725"/>
              <a:chOff x="287730" y="1327848"/>
              <a:chExt cx="9221622" cy="4688460"/>
            </a:xfrm>
          </p:grpSpPr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11F6C396-1A35-2617-24B7-34C90B54E403}"/>
                  </a:ext>
                </a:extLst>
              </p:cNvPr>
              <p:cNvSpPr/>
              <p:nvPr/>
            </p:nvSpPr>
            <p:spPr>
              <a:xfrm>
                <a:off x="4245563" y="1445078"/>
                <a:ext cx="1027060" cy="4547507"/>
              </a:xfrm>
              <a:custGeom>
                <a:avLst/>
                <a:gdLst>
                  <a:gd name="connsiteX0" fmla="*/ 100154 w 1027060"/>
                  <a:gd name="connsiteY0" fmla="*/ 0 h 4547507"/>
                  <a:gd name="connsiteX1" fmla="*/ 75662 w 1027060"/>
                  <a:gd name="connsiteY1" fmla="*/ 2302328 h 4547507"/>
                  <a:gd name="connsiteX2" fmla="*/ 941076 w 1027060"/>
                  <a:gd name="connsiteY2" fmla="*/ 2432957 h 4547507"/>
                  <a:gd name="connsiteX3" fmla="*/ 949240 w 1027060"/>
                  <a:gd name="connsiteY3" fmla="*/ 4547507 h 4547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27060" h="4547507">
                    <a:moveTo>
                      <a:pt x="100154" y="0"/>
                    </a:moveTo>
                    <a:cubicBezTo>
                      <a:pt x="17831" y="948417"/>
                      <a:pt x="-64492" y="1896835"/>
                      <a:pt x="75662" y="2302328"/>
                    </a:cubicBezTo>
                    <a:cubicBezTo>
                      <a:pt x="215816" y="2707821"/>
                      <a:pt x="795480" y="2058761"/>
                      <a:pt x="941076" y="2432957"/>
                    </a:cubicBezTo>
                    <a:cubicBezTo>
                      <a:pt x="1086672" y="2807153"/>
                      <a:pt x="1017956" y="3677330"/>
                      <a:pt x="949240" y="4547507"/>
                    </a:cubicBezTo>
                  </a:path>
                </a:pathLst>
              </a:custGeom>
              <a:noFill/>
              <a:ln w="571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B1BFD326-CA3B-7EA0-F5B3-0C4CD1660155}"/>
                  </a:ext>
                </a:extLst>
              </p:cNvPr>
              <p:cNvSpPr/>
              <p:nvPr/>
            </p:nvSpPr>
            <p:spPr>
              <a:xfrm>
                <a:off x="287730" y="1329847"/>
                <a:ext cx="4942657" cy="4674600"/>
              </a:xfrm>
              <a:custGeom>
                <a:avLst/>
                <a:gdLst>
                  <a:gd name="connsiteX0" fmla="*/ 0 w 5084353"/>
                  <a:gd name="connsiteY0" fmla="*/ 0 h 3894627"/>
                  <a:gd name="connsiteX1" fmla="*/ 4130183 w 5084353"/>
                  <a:gd name="connsiteY1" fmla="*/ 0 h 3894627"/>
                  <a:gd name="connsiteX2" fmla="*/ 4127010 w 5084353"/>
                  <a:gd name="connsiteY2" fmla="*/ 36967 h 3894627"/>
                  <a:gd name="connsiteX3" fmla="*/ 4132955 w 5084353"/>
                  <a:gd name="connsiteY3" fmla="*/ 1984699 h 3894627"/>
                  <a:gd name="connsiteX4" fmla="*/ 4563621 w 5084353"/>
                  <a:gd name="connsiteY4" fmla="*/ 2061750 h 3894627"/>
                  <a:gd name="connsiteX5" fmla="*/ 4599450 w 5084353"/>
                  <a:gd name="connsiteY5" fmla="*/ 2049635 h 3894627"/>
                  <a:gd name="connsiteX6" fmla="*/ 4599450 w 5084353"/>
                  <a:gd name="connsiteY6" fmla="*/ 2049636 h 3894627"/>
                  <a:gd name="connsiteX7" fmla="*/ 4697519 w 5084353"/>
                  <a:gd name="connsiteY7" fmla="*/ 2016473 h 3894627"/>
                  <a:gd name="connsiteX8" fmla="*/ 4821434 w 5084353"/>
                  <a:gd name="connsiteY8" fmla="*/ 1994077 h 3894627"/>
                  <a:gd name="connsiteX9" fmla="*/ 4998369 w 5084353"/>
                  <a:gd name="connsiteY9" fmla="*/ 2115329 h 3894627"/>
                  <a:gd name="connsiteX10" fmla="*/ 5054721 w 5084353"/>
                  <a:gd name="connsiteY10" fmla="*/ 3584996 h 3894627"/>
                  <a:gd name="connsiteX11" fmla="*/ 5032591 w 5084353"/>
                  <a:gd name="connsiteY11" fmla="*/ 3894627 h 3894627"/>
                  <a:gd name="connsiteX12" fmla="*/ 4943937 w 5084353"/>
                  <a:gd name="connsiteY12" fmla="*/ 3894627 h 3894627"/>
                  <a:gd name="connsiteX13" fmla="*/ 4943937 w 5084353"/>
                  <a:gd name="connsiteY13" fmla="*/ 3894626 h 3894627"/>
                  <a:gd name="connsiteX14" fmla="*/ 0 w 5084353"/>
                  <a:gd name="connsiteY14" fmla="*/ 3894626 h 3894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084353" h="3894627">
                    <a:moveTo>
                      <a:pt x="0" y="0"/>
                    </a:moveTo>
                    <a:lnTo>
                      <a:pt x="4130183" y="0"/>
                    </a:lnTo>
                    <a:lnTo>
                      <a:pt x="4127010" y="36967"/>
                    </a:lnTo>
                    <a:cubicBezTo>
                      <a:pt x="4058020" y="859409"/>
                      <a:pt x="4010320" y="1629893"/>
                      <a:pt x="4132955" y="1984699"/>
                    </a:cubicBezTo>
                    <a:cubicBezTo>
                      <a:pt x="4203032" y="2187446"/>
                      <a:pt x="4382987" y="2126554"/>
                      <a:pt x="4563621" y="2061750"/>
                    </a:cubicBezTo>
                    <a:lnTo>
                      <a:pt x="4599450" y="2049635"/>
                    </a:lnTo>
                    <a:lnTo>
                      <a:pt x="4599450" y="2049636"/>
                    </a:lnTo>
                    <a:lnTo>
                      <a:pt x="4697519" y="2016473"/>
                    </a:lnTo>
                    <a:cubicBezTo>
                      <a:pt x="4741056" y="2003841"/>
                      <a:pt x="4782930" y="1995023"/>
                      <a:pt x="4821434" y="1994077"/>
                    </a:cubicBezTo>
                    <a:cubicBezTo>
                      <a:pt x="4898442" y="1992185"/>
                      <a:pt x="4961970" y="2021780"/>
                      <a:pt x="4998369" y="2115329"/>
                    </a:cubicBezTo>
                    <a:cubicBezTo>
                      <a:pt x="5107566" y="2395976"/>
                      <a:pt x="5096213" y="2955613"/>
                      <a:pt x="5054721" y="3584996"/>
                    </a:cubicBezTo>
                    <a:lnTo>
                      <a:pt x="5032591" y="3894627"/>
                    </a:lnTo>
                    <a:lnTo>
                      <a:pt x="4943937" y="3894627"/>
                    </a:lnTo>
                    <a:lnTo>
                      <a:pt x="4943937" y="3894626"/>
                    </a:lnTo>
                    <a:lnTo>
                      <a:pt x="0" y="3894626"/>
                    </a:lnTo>
                    <a:close/>
                  </a:path>
                </a:pathLst>
              </a:custGeom>
              <a:solidFill>
                <a:srgbClr val="FFC000">
                  <a:alpha val="1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670A04CA-6762-637D-347A-ACF86CCB6B5C}"/>
                  </a:ext>
                </a:extLst>
              </p:cNvPr>
              <p:cNvSpPr/>
              <p:nvPr/>
            </p:nvSpPr>
            <p:spPr>
              <a:xfrm>
                <a:off x="4268486" y="1329847"/>
                <a:ext cx="3667167" cy="4686461"/>
              </a:xfrm>
              <a:custGeom>
                <a:avLst/>
                <a:gdLst>
                  <a:gd name="connsiteX0" fmla="*/ 159462 w 3736683"/>
                  <a:gd name="connsiteY0" fmla="*/ 0 h 3894626"/>
                  <a:gd name="connsiteX1" fmla="*/ 3736683 w 3736683"/>
                  <a:gd name="connsiteY1" fmla="*/ 0 h 3894626"/>
                  <a:gd name="connsiteX2" fmla="*/ 3736683 w 3736683"/>
                  <a:gd name="connsiteY2" fmla="*/ 3894626 h 3894626"/>
                  <a:gd name="connsiteX3" fmla="*/ 975300 w 3736683"/>
                  <a:gd name="connsiteY3" fmla="*/ 3894626 h 3894626"/>
                  <a:gd name="connsiteX4" fmla="*/ 997430 w 3736683"/>
                  <a:gd name="connsiteY4" fmla="*/ 3584995 h 3894626"/>
                  <a:gd name="connsiteX5" fmla="*/ 941078 w 3736683"/>
                  <a:gd name="connsiteY5" fmla="*/ 2115328 h 3894626"/>
                  <a:gd name="connsiteX6" fmla="*/ 640228 w 3736683"/>
                  <a:gd name="connsiteY6" fmla="*/ 2016472 h 3894626"/>
                  <a:gd name="connsiteX7" fmla="*/ 542159 w 3736683"/>
                  <a:gd name="connsiteY7" fmla="*/ 2049635 h 3894626"/>
                  <a:gd name="connsiteX8" fmla="*/ 72891 w 3736683"/>
                  <a:gd name="connsiteY8" fmla="*/ 0 h 3894626"/>
                  <a:gd name="connsiteX9" fmla="*/ 159461 w 3736683"/>
                  <a:gd name="connsiteY9" fmla="*/ 0 h 3894626"/>
                  <a:gd name="connsiteX10" fmla="*/ 542158 w 3736683"/>
                  <a:gd name="connsiteY10" fmla="*/ 2049635 h 3894626"/>
                  <a:gd name="connsiteX11" fmla="*/ 506329 w 3736683"/>
                  <a:gd name="connsiteY11" fmla="*/ 2061750 h 3894626"/>
                  <a:gd name="connsiteX12" fmla="*/ 75663 w 3736683"/>
                  <a:gd name="connsiteY12" fmla="*/ 1984699 h 3894626"/>
                  <a:gd name="connsiteX13" fmla="*/ 69718 w 3736683"/>
                  <a:gd name="connsiteY13" fmla="*/ 36967 h 3894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736683" h="3894626">
                    <a:moveTo>
                      <a:pt x="159462" y="0"/>
                    </a:moveTo>
                    <a:lnTo>
                      <a:pt x="3736683" y="0"/>
                    </a:lnTo>
                    <a:lnTo>
                      <a:pt x="3736683" y="3894626"/>
                    </a:lnTo>
                    <a:lnTo>
                      <a:pt x="975300" y="3894626"/>
                    </a:lnTo>
                    <a:lnTo>
                      <a:pt x="997430" y="3584995"/>
                    </a:lnTo>
                    <a:cubicBezTo>
                      <a:pt x="1038922" y="2955612"/>
                      <a:pt x="1050275" y="2395975"/>
                      <a:pt x="941078" y="2115328"/>
                    </a:cubicBezTo>
                    <a:cubicBezTo>
                      <a:pt x="886480" y="1975005"/>
                      <a:pt x="770840" y="1978577"/>
                      <a:pt x="640228" y="2016472"/>
                    </a:cubicBezTo>
                    <a:lnTo>
                      <a:pt x="542159" y="2049635"/>
                    </a:lnTo>
                    <a:close/>
                    <a:moveTo>
                      <a:pt x="72891" y="0"/>
                    </a:moveTo>
                    <a:lnTo>
                      <a:pt x="159461" y="0"/>
                    </a:lnTo>
                    <a:lnTo>
                      <a:pt x="542158" y="2049635"/>
                    </a:lnTo>
                    <a:lnTo>
                      <a:pt x="506329" y="2061750"/>
                    </a:lnTo>
                    <a:cubicBezTo>
                      <a:pt x="325695" y="2126554"/>
                      <a:pt x="145740" y="2187446"/>
                      <a:pt x="75663" y="1984699"/>
                    </a:cubicBezTo>
                    <a:cubicBezTo>
                      <a:pt x="-46972" y="1629893"/>
                      <a:pt x="728" y="859409"/>
                      <a:pt x="69718" y="36967"/>
                    </a:cubicBezTo>
                    <a:close/>
                  </a:path>
                </a:pathLst>
              </a:custGeom>
              <a:solidFill>
                <a:srgbClr val="002060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F553FD3A-8D83-0421-E984-762FDA111B40}"/>
                  </a:ext>
                </a:extLst>
              </p:cNvPr>
              <p:cNvSpPr/>
              <p:nvPr/>
            </p:nvSpPr>
            <p:spPr>
              <a:xfrm flipH="1">
                <a:off x="7937186" y="1327848"/>
                <a:ext cx="1572166" cy="4686461"/>
              </a:xfrm>
              <a:custGeom>
                <a:avLst/>
                <a:gdLst>
                  <a:gd name="connsiteX0" fmla="*/ 159462 w 3736683"/>
                  <a:gd name="connsiteY0" fmla="*/ 0 h 3894626"/>
                  <a:gd name="connsiteX1" fmla="*/ 3736683 w 3736683"/>
                  <a:gd name="connsiteY1" fmla="*/ 0 h 3894626"/>
                  <a:gd name="connsiteX2" fmla="*/ 3736683 w 3736683"/>
                  <a:gd name="connsiteY2" fmla="*/ 3894626 h 3894626"/>
                  <a:gd name="connsiteX3" fmla="*/ 975300 w 3736683"/>
                  <a:gd name="connsiteY3" fmla="*/ 3894626 h 3894626"/>
                  <a:gd name="connsiteX4" fmla="*/ 997430 w 3736683"/>
                  <a:gd name="connsiteY4" fmla="*/ 3584995 h 3894626"/>
                  <a:gd name="connsiteX5" fmla="*/ 941078 w 3736683"/>
                  <a:gd name="connsiteY5" fmla="*/ 2115328 h 3894626"/>
                  <a:gd name="connsiteX6" fmla="*/ 640228 w 3736683"/>
                  <a:gd name="connsiteY6" fmla="*/ 2016472 h 3894626"/>
                  <a:gd name="connsiteX7" fmla="*/ 542159 w 3736683"/>
                  <a:gd name="connsiteY7" fmla="*/ 2049635 h 3894626"/>
                  <a:gd name="connsiteX8" fmla="*/ 72891 w 3736683"/>
                  <a:gd name="connsiteY8" fmla="*/ 0 h 3894626"/>
                  <a:gd name="connsiteX9" fmla="*/ 159461 w 3736683"/>
                  <a:gd name="connsiteY9" fmla="*/ 0 h 3894626"/>
                  <a:gd name="connsiteX10" fmla="*/ 542158 w 3736683"/>
                  <a:gd name="connsiteY10" fmla="*/ 2049635 h 3894626"/>
                  <a:gd name="connsiteX11" fmla="*/ 506329 w 3736683"/>
                  <a:gd name="connsiteY11" fmla="*/ 2061750 h 3894626"/>
                  <a:gd name="connsiteX12" fmla="*/ 75663 w 3736683"/>
                  <a:gd name="connsiteY12" fmla="*/ 1984699 h 3894626"/>
                  <a:gd name="connsiteX13" fmla="*/ 69718 w 3736683"/>
                  <a:gd name="connsiteY13" fmla="*/ 36967 h 3894626"/>
                  <a:gd name="connsiteX0" fmla="*/ 159462 w 3736683"/>
                  <a:gd name="connsiteY0" fmla="*/ 0 h 3894626"/>
                  <a:gd name="connsiteX1" fmla="*/ 3736683 w 3736683"/>
                  <a:gd name="connsiteY1" fmla="*/ 0 h 3894626"/>
                  <a:gd name="connsiteX2" fmla="*/ 3736683 w 3736683"/>
                  <a:gd name="connsiteY2" fmla="*/ 3894626 h 3894626"/>
                  <a:gd name="connsiteX3" fmla="*/ 975300 w 3736683"/>
                  <a:gd name="connsiteY3" fmla="*/ 3894626 h 3894626"/>
                  <a:gd name="connsiteX4" fmla="*/ 997430 w 3736683"/>
                  <a:gd name="connsiteY4" fmla="*/ 3584995 h 3894626"/>
                  <a:gd name="connsiteX5" fmla="*/ 941078 w 3736683"/>
                  <a:gd name="connsiteY5" fmla="*/ 2115328 h 3894626"/>
                  <a:gd name="connsiteX6" fmla="*/ 640228 w 3736683"/>
                  <a:gd name="connsiteY6" fmla="*/ 2016472 h 3894626"/>
                  <a:gd name="connsiteX7" fmla="*/ 542159 w 3736683"/>
                  <a:gd name="connsiteY7" fmla="*/ 2049635 h 3894626"/>
                  <a:gd name="connsiteX8" fmla="*/ 159462 w 3736683"/>
                  <a:gd name="connsiteY8" fmla="*/ 0 h 3894626"/>
                  <a:gd name="connsiteX9" fmla="*/ 72891 w 3736683"/>
                  <a:gd name="connsiteY9" fmla="*/ 0 h 3894626"/>
                  <a:gd name="connsiteX10" fmla="*/ 159461 w 3736683"/>
                  <a:gd name="connsiteY10" fmla="*/ 0 h 3894626"/>
                  <a:gd name="connsiteX11" fmla="*/ 542158 w 3736683"/>
                  <a:gd name="connsiteY11" fmla="*/ 2049635 h 3894626"/>
                  <a:gd name="connsiteX12" fmla="*/ 75663 w 3736683"/>
                  <a:gd name="connsiteY12" fmla="*/ 1984699 h 3894626"/>
                  <a:gd name="connsiteX13" fmla="*/ 69718 w 3736683"/>
                  <a:gd name="connsiteY13" fmla="*/ 36967 h 3894626"/>
                  <a:gd name="connsiteX14" fmla="*/ 72891 w 3736683"/>
                  <a:gd name="connsiteY14" fmla="*/ 0 h 3894626"/>
                  <a:gd name="connsiteX0" fmla="*/ 159462 w 3736683"/>
                  <a:gd name="connsiteY0" fmla="*/ 0 h 3894626"/>
                  <a:gd name="connsiteX1" fmla="*/ 3736683 w 3736683"/>
                  <a:gd name="connsiteY1" fmla="*/ 0 h 3894626"/>
                  <a:gd name="connsiteX2" fmla="*/ 3736683 w 3736683"/>
                  <a:gd name="connsiteY2" fmla="*/ 3894626 h 3894626"/>
                  <a:gd name="connsiteX3" fmla="*/ 975300 w 3736683"/>
                  <a:gd name="connsiteY3" fmla="*/ 3894626 h 3894626"/>
                  <a:gd name="connsiteX4" fmla="*/ 997430 w 3736683"/>
                  <a:gd name="connsiteY4" fmla="*/ 3584995 h 3894626"/>
                  <a:gd name="connsiteX5" fmla="*/ 941078 w 3736683"/>
                  <a:gd name="connsiteY5" fmla="*/ 2115328 h 3894626"/>
                  <a:gd name="connsiteX6" fmla="*/ 640228 w 3736683"/>
                  <a:gd name="connsiteY6" fmla="*/ 2016472 h 3894626"/>
                  <a:gd name="connsiteX7" fmla="*/ 542159 w 3736683"/>
                  <a:gd name="connsiteY7" fmla="*/ 2049635 h 3894626"/>
                  <a:gd name="connsiteX8" fmla="*/ 159462 w 3736683"/>
                  <a:gd name="connsiteY8" fmla="*/ 0 h 3894626"/>
                  <a:gd name="connsiteX9" fmla="*/ 72891 w 3736683"/>
                  <a:gd name="connsiteY9" fmla="*/ 0 h 3894626"/>
                  <a:gd name="connsiteX10" fmla="*/ 159461 w 3736683"/>
                  <a:gd name="connsiteY10" fmla="*/ 0 h 3894626"/>
                  <a:gd name="connsiteX11" fmla="*/ 75663 w 3736683"/>
                  <a:gd name="connsiteY11" fmla="*/ 1984699 h 3894626"/>
                  <a:gd name="connsiteX12" fmla="*/ 69718 w 3736683"/>
                  <a:gd name="connsiteY12" fmla="*/ 36967 h 3894626"/>
                  <a:gd name="connsiteX13" fmla="*/ 72891 w 3736683"/>
                  <a:gd name="connsiteY13" fmla="*/ 0 h 3894626"/>
                  <a:gd name="connsiteX0" fmla="*/ 89744 w 3666965"/>
                  <a:gd name="connsiteY0" fmla="*/ 0 h 3894626"/>
                  <a:gd name="connsiteX1" fmla="*/ 3666965 w 3666965"/>
                  <a:gd name="connsiteY1" fmla="*/ 0 h 3894626"/>
                  <a:gd name="connsiteX2" fmla="*/ 3666965 w 3666965"/>
                  <a:gd name="connsiteY2" fmla="*/ 3894626 h 3894626"/>
                  <a:gd name="connsiteX3" fmla="*/ 905582 w 3666965"/>
                  <a:gd name="connsiteY3" fmla="*/ 3894626 h 3894626"/>
                  <a:gd name="connsiteX4" fmla="*/ 927712 w 3666965"/>
                  <a:gd name="connsiteY4" fmla="*/ 3584995 h 3894626"/>
                  <a:gd name="connsiteX5" fmla="*/ 871360 w 3666965"/>
                  <a:gd name="connsiteY5" fmla="*/ 2115328 h 3894626"/>
                  <a:gd name="connsiteX6" fmla="*/ 570510 w 3666965"/>
                  <a:gd name="connsiteY6" fmla="*/ 2016472 h 3894626"/>
                  <a:gd name="connsiteX7" fmla="*/ 472441 w 3666965"/>
                  <a:gd name="connsiteY7" fmla="*/ 2049635 h 3894626"/>
                  <a:gd name="connsiteX8" fmla="*/ 89744 w 3666965"/>
                  <a:gd name="connsiteY8" fmla="*/ 0 h 3894626"/>
                  <a:gd name="connsiteX9" fmla="*/ 3173 w 3666965"/>
                  <a:gd name="connsiteY9" fmla="*/ 0 h 3894626"/>
                  <a:gd name="connsiteX10" fmla="*/ 89743 w 3666965"/>
                  <a:gd name="connsiteY10" fmla="*/ 0 h 3894626"/>
                  <a:gd name="connsiteX11" fmla="*/ 0 w 3666965"/>
                  <a:gd name="connsiteY11" fmla="*/ 36967 h 3894626"/>
                  <a:gd name="connsiteX12" fmla="*/ 3173 w 3666965"/>
                  <a:gd name="connsiteY12" fmla="*/ 0 h 3894626"/>
                  <a:gd name="connsiteX0" fmla="*/ 89744 w 3666965"/>
                  <a:gd name="connsiteY0" fmla="*/ 0 h 3894626"/>
                  <a:gd name="connsiteX1" fmla="*/ 3666965 w 3666965"/>
                  <a:gd name="connsiteY1" fmla="*/ 0 h 3894626"/>
                  <a:gd name="connsiteX2" fmla="*/ 3666965 w 3666965"/>
                  <a:gd name="connsiteY2" fmla="*/ 3894626 h 3894626"/>
                  <a:gd name="connsiteX3" fmla="*/ 905582 w 3666965"/>
                  <a:gd name="connsiteY3" fmla="*/ 3894626 h 3894626"/>
                  <a:gd name="connsiteX4" fmla="*/ 927712 w 3666965"/>
                  <a:gd name="connsiteY4" fmla="*/ 3584995 h 3894626"/>
                  <a:gd name="connsiteX5" fmla="*/ 871360 w 3666965"/>
                  <a:gd name="connsiteY5" fmla="*/ 2115328 h 3894626"/>
                  <a:gd name="connsiteX6" fmla="*/ 570510 w 3666965"/>
                  <a:gd name="connsiteY6" fmla="*/ 2016472 h 3894626"/>
                  <a:gd name="connsiteX7" fmla="*/ 472441 w 3666965"/>
                  <a:gd name="connsiteY7" fmla="*/ 2049635 h 3894626"/>
                  <a:gd name="connsiteX8" fmla="*/ 89744 w 3666965"/>
                  <a:gd name="connsiteY8" fmla="*/ 0 h 3894626"/>
                  <a:gd name="connsiteX9" fmla="*/ 0 w 3666965"/>
                  <a:gd name="connsiteY9" fmla="*/ 36967 h 3894626"/>
                  <a:gd name="connsiteX10" fmla="*/ 89743 w 3666965"/>
                  <a:gd name="connsiteY10" fmla="*/ 0 h 3894626"/>
                  <a:gd name="connsiteX11" fmla="*/ 0 w 3666965"/>
                  <a:gd name="connsiteY11" fmla="*/ 36967 h 3894626"/>
                  <a:gd name="connsiteX0" fmla="*/ 0 w 3577221"/>
                  <a:gd name="connsiteY0" fmla="*/ 0 h 3894626"/>
                  <a:gd name="connsiteX1" fmla="*/ 3577221 w 3577221"/>
                  <a:gd name="connsiteY1" fmla="*/ 0 h 3894626"/>
                  <a:gd name="connsiteX2" fmla="*/ 3577221 w 3577221"/>
                  <a:gd name="connsiteY2" fmla="*/ 3894626 h 3894626"/>
                  <a:gd name="connsiteX3" fmla="*/ 815838 w 3577221"/>
                  <a:gd name="connsiteY3" fmla="*/ 3894626 h 3894626"/>
                  <a:gd name="connsiteX4" fmla="*/ 837968 w 3577221"/>
                  <a:gd name="connsiteY4" fmla="*/ 3584995 h 3894626"/>
                  <a:gd name="connsiteX5" fmla="*/ 781616 w 3577221"/>
                  <a:gd name="connsiteY5" fmla="*/ 2115328 h 3894626"/>
                  <a:gd name="connsiteX6" fmla="*/ 480766 w 3577221"/>
                  <a:gd name="connsiteY6" fmla="*/ 2016472 h 3894626"/>
                  <a:gd name="connsiteX7" fmla="*/ 382697 w 3577221"/>
                  <a:gd name="connsiteY7" fmla="*/ 2049635 h 3894626"/>
                  <a:gd name="connsiteX8" fmla="*/ 0 w 3577221"/>
                  <a:gd name="connsiteY8" fmla="*/ 0 h 3894626"/>
                  <a:gd name="connsiteX0" fmla="*/ 0 w 3577221"/>
                  <a:gd name="connsiteY0" fmla="*/ 0 h 3894626"/>
                  <a:gd name="connsiteX1" fmla="*/ 3577221 w 3577221"/>
                  <a:gd name="connsiteY1" fmla="*/ 0 h 3894626"/>
                  <a:gd name="connsiteX2" fmla="*/ 3577221 w 3577221"/>
                  <a:gd name="connsiteY2" fmla="*/ 3894626 h 3894626"/>
                  <a:gd name="connsiteX3" fmla="*/ 815838 w 3577221"/>
                  <a:gd name="connsiteY3" fmla="*/ 3894626 h 3894626"/>
                  <a:gd name="connsiteX4" fmla="*/ 837968 w 3577221"/>
                  <a:gd name="connsiteY4" fmla="*/ 3584995 h 3894626"/>
                  <a:gd name="connsiteX5" fmla="*/ 480766 w 3577221"/>
                  <a:gd name="connsiteY5" fmla="*/ 2016472 h 3894626"/>
                  <a:gd name="connsiteX6" fmla="*/ 382697 w 3577221"/>
                  <a:gd name="connsiteY6" fmla="*/ 2049635 h 3894626"/>
                  <a:gd name="connsiteX7" fmla="*/ 0 w 3577221"/>
                  <a:gd name="connsiteY7" fmla="*/ 0 h 3894626"/>
                  <a:gd name="connsiteX0" fmla="*/ 0 w 3577221"/>
                  <a:gd name="connsiteY0" fmla="*/ 0 h 3894626"/>
                  <a:gd name="connsiteX1" fmla="*/ 3577221 w 3577221"/>
                  <a:gd name="connsiteY1" fmla="*/ 0 h 3894626"/>
                  <a:gd name="connsiteX2" fmla="*/ 3577221 w 3577221"/>
                  <a:gd name="connsiteY2" fmla="*/ 3894626 h 3894626"/>
                  <a:gd name="connsiteX3" fmla="*/ 815838 w 3577221"/>
                  <a:gd name="connsiteY3" fmla="*/ 3894626 h 3894626"/>
                  <a:gd name="connsiteX4" fmla="*/ 837968 w 3577221"/>
                  <a:gd name="connsiteY4" fmla="*/ 3584995 h 3894626"/>
                  <a:gd name="connsiteX5" fmla="*/ 382697 w 3577221"/>
                  <a:gd name="connsiteY5" fmla="*/ 2049635 h 3894626"/>
                  <a:gd name="connsiteX6" fmla="*/ 0 w 3577221"/>
                  <a:gd name="connsiteY6" fmla="*/ 0 h 3894626"/>
                  <a:gd name="connsiteX0" fmla="*/ 105938 w 3683159"/>
                  <a:gd name="connsiteY0" fmla="*/ 0 h 3894626"/>
                  <a:gd name="connsiteX1" fmla="*/ 3683159 w 3683159"/>
                  <a:gd name="connsiteY1" fmla="*/ 0 h 3894626"/>
                  <a:gd name="connsiteX2" fmla="*/ 3683159 w 3683159"/>
                  <a:gd name="connsiteY2" fmla="*/ 3894626 h 3894626"/>
                  <a:gd name="connsiteX3" fmla="*/ 921776 w 3683159"/>
                  <a:gd name="connsiteY3" fmla="*/ 3894626 h 3894626"/>
                  <a:gd name="connsiteX4" fmla="*/ 943906 w 3683159"/>
                  <a:gd name="connsiteY4" fmla="*/ 3584995 h 3894626"/>
                  <a:gd name="connsiteX5" fmla="*/ 105938 w 3683159"/>
                  <a:gd name="connsiteY5" fmla="*/ 0 h 3894626"/>
                  <a:gd name="connsiteX0" fmla="*/ 0 w 3577221"/>
                  <a:gd name="connsiteY0" fmla="*/ 0 h 3894626"/>
                  <a:gd name="connsiteX1" fmla="*/ 3577221 w 3577221"/>
                  <a:gd name="connsiteY1" fmla="*/ 0 h 3894626"/>
                  <a:gd name="connsiteX2" fmla="*/ 3577221 w 3577221"/>
                  <a:gd name="connsiteY2" fmla="*/ 3894626 h 3894626"/>
                  <a:gd name="connsiteX3" fmla="*/ 815838 w 3577221"/>
                  <a:gd name="connsiteY3" fmla="*/ 3894626 h 3894626"/>
                  <a:gd name="connsiteX4" fmla="*/ 0 w 3577221"/>
                  <a:gd name="connsiteY4" fmla="*/ 0 h 3894626"/>
                  <a:gd name="connsiteX0" fmla="*/ 23873 w 2761383"/>
                  <a:gd name="connsiteY0" fmla="*/ 28144 h 3894626"/>
                  <a:gd name="connsiteX1" fmla="*/ 2761383 w 2761383"/>
                  <a:gd name="connsiteY1" fmla="*/ 0 h 3894626"/>
                  <a:gd name="connsiteX2" fmla="*/ 2761383 w 2761383"/>
                  <a:gd name="connsiteY2" fmla="*/ 3894626 h 3894626"/>
                  <a:gd name="connsiteX3" fmla="*/ 0 w 2761383"/>
                  <a:gd name="connsiteY3" fmla="*/ 3894626 h 3894626"/>
                  <a:gd name="connsiteX4" fmla="*/ 23873 w 2761383"/>
                  <a:gd name="connsiteY4" fmla="*/ 28144 h 3894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61383" h="3894626">
                    <a:moveTo>
                      <a:pt x="23873" y="28144"/>
                    </a:moveTo>
                    <a:lnTo>
                      <a:pt x="2761383" y="0"/>
                    </a:lnTo>
                    <a:lnTo>
                      <a:pt x="2761383" y="3894626"/>
                    </a:lnTo>
                    <a:lnTo>
                      <a:pt x="0" y="3894626"/>
                    </a:lnTo>
                    <a:lnTo>
                      <a:pt x="23873" y="28144"/>
                    </a:lnTo>
                    <a:close/>
                  </a:path>
                </a:pathLst>
              </a:custGeom>
              <a:solidFill>
                <a:srgbClr val="002060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BFEF683-C58C-79C8-C0D2-97E4F90303C1}"/>
                </a:ext>
              </a:extLst>
            </p:cNvPr>
            <p:cNvSpPr txBox="1"/>
            <p:nvPr/>
          </p:nvSpPr>
          <p:spPr>
            <a:xfrm>
              <a:off x="2098666" y="3461185"/>
              <a:ext cx="22239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/>
                <a:t>AREA A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FAF495D-DD5D-5577-74F4-F588DA67A5F8}"/>
                </a:ext>
              </a:extLst>
            </p:cNvPr>
            <p:cNvSpPr txBox="1"/>
            <p:nvPr/>
          </p:nvSpPr>
          <p:spPr>
            <a:xfrm>
              <a:off x="6486375" y="3461185"/>
              <a:ext cx="22239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/>
                <a:t>AREA B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5F97A92-A6E7-EA16-3D37-3FF376857EED}"/>
              </a:ext>
            </a:extLst>
          </p:cNvPr>
          <p:cNvGrpSpPr/>
          <p:nvPr/>
        </p:nvGrpSpPr>
        <p:grpSpPr>
          <a:xfrm>
            <a:off x="9790128" y="4665407"/>
            <a:ext cx="2223911" cy="1972692"/>
            <a:chOff x="9790128" y="4665407"/>
            <a:chExt cx="2223911" cy="1972692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1E730D62-5AAF-3DA5-72DC-614562B6376A}"/>
                </a:ext>
              </a:extLst>
            </p:cNvPr>
            <p:cNvGrpSpPr/>
            <p:nvPr/>
          </p:nvGrpSpPr>
          <p:grpSpPr>
            <a:xfrm>
              <a:off x="9790128" y="4665407"/>
              <a:ext cx="2223911" cy="1972692"/>
              <a:chOff x="110362" y="657216"/>
              <a:chExt cx="6858000" cy="6083301"/>
            </a:xfrm>
          </p:grpSpPr>
          <p:pic>
            <p:nvPicPr>
              <p:cNvPr id="67" name="Picture 66">
                <a:extLst>
                  <a:ext uri="{FF2B5EF4-FFF2-40B4-BE49-F238E27FC236}">
                    <a16:creationId xmlns:a16="http://schemas.microsoft.com/office/drawing/2014/main" id="{A3285C3F-C106-0B30-8D60-5CE95DB887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0362" y="657216"/>
                <a:ext cx="6858000" cy="6083301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FFFFFF"/>
                </a:solidFill>
                <a:miter lim="800000"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A167A247-C1A1-EB99-5A76-B5D5D10BA44B}"/>
                  </a:ext>
                </a:extLst>
              </p:cNvPr>
              <p:cNvSpPr/>
              <p:nvPr/>
            </p:nvSpPr>
            <p:spPr>
              <a:xfrm>
                <a:off x="907446" y="2231668"/>
                <a:ext cx="4894345" cy="2841435"/>
              </a:xfrm>
              <a:custGeom>
                <a:avLst/>
                <a:gdLst>
                  <a:gd name="connsiteX0" fmla="*/ 196140 w 4894345"/>
                  <a:gd name="connsiteY0" fmla="*/ 779546 h 2841435"/>
                  <a:gd name="connsiteX1" fmla="*/ 22720 w 4894345"/>
                  <a:gd name="connsiteY1" fmla="*/ 1284042 h 2841435"/>
                  <a:gd name="connsiteX2" fmla="*/ 54251 w 4894345"/>
                  <a:gd name="connsiteY2" fmla="*/ 2608346 h 2841435"/>
                  <a:gd name="connsiteX3" fmla="*/ 495685 w 4894345"/>
                  <a:gd name="connsiteY3" fmla="*/ 2829063 h 2841435"/>
                  <a:gd name="connsiteX4" fmla="*/ 1220899 w 4894345"/>
                  <a:gd name="connsiteY4" fmla="*/ 2766001 h 2841435"/>
                  <a:gd name="connsiteX5" fmla="*/ 1268195 w 4894345"/>
                  <a:gd name="connsiteY5" fmla="*/ 2371863 h 2841435"/>
                  <a:gd name="connsiteX6" fmla="*/ 1220899 w 4894345"/>
                  <a:gd name="connsiteY6" fmla="*/ 1615118 h 2841435"/>
                  <a:gd name="connsiteX7" fmla="*/ 1551975 w 4894345"/>
                  <a:gd name="connsiteY7" fmla="*/ 1473229 h 2841435"/>
                  <a:gd name="connsiteX8" fmla="*/ 3254651 w 4894345"/>
                  <a:gd name="connsiteY8" fmla="*/ 1410166 h 2841435"/>
                  <a:gd name="connsiteX9" fmla="*/ 3506899 w 4894345"/>
                  <a:gd name="connsiteY9" fmla="*/ 1378635 h 2841435"/>
                  <a:gd name="connsiteX10" fmla="*/ 3554195 w 4894345"/>
                  <a:gd name="connsiteY10" fmla="*/ 2214208 h 2841435"/>
                  <a:gd name="connsiteX11" fmla="*/ 3538430 w 4894345"/>
                  <a:gd name="connsiteY11" fmla="*/ 2608346 h 2841435"/>
                  <a:gd name="connsiteX12" fmla="*/ 4610485 w 4894345"/>
                  <a:gd name="connsiteY12" fmla="*/ 2576815 h 2841435"/>
                  <a:gd name="connsiteX13" fmla="*/ 4894264 w 4894345"/>
                  <a:gd name="connsiteY13" fmla="*/ 1977725 h 2841435"/>
                  <a:gd name="connsiteX14" fmla="*/ 4594720 w 4894345"/>
                  <a:gd name="connsiteY14" fmla="*/ 716484 h 2841435"/>
                  <a:gd name="connsiteX15" fmla="*/ 3711851 w 4894345"/>
                  <a:gd name="connsiteY15" fmla="*/ 38566 h 2841435"/>
                  <a:gd name="connsiteX16" fmla="*/ 2608264 w 4894345"/>
                  <a:gd name="connsiteY16" fmla="*/ 85863 h 2841435"/>
                  <a:gd name="connsiteX17" fmla="*/ 1142071 w 4894345"/>
                  <a:gd name="connsiteY17" fmla="*/ 101629 h 2841435"/>
                  <a:gd name="connsiteX18" fmla="*/ 196140 w 4894345"/>
                  <a:gd name="connsiteY18" fmla="*/ 779546 h 28414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894345" h="2841435">
                    <a:moveTo>
                      <a:pt x="196140" y="779546"/>
                    </a:moveTo>
                    <a:cubicBezTo>
                      <a:pt x="9581" y="976615"/>
                      <a:pt x="46368" y="979242"/>
                      <a:pt x="22720" y="1284042"/>
                    </a:cubicBezTo>
                    <a:cubicBezTo>
                      <a:pt x="-928" y="1588842"/>
                      <a:pt x="-24577" y="2350842"/>
                      <a:pt x="54251" y="2608346"/>
                    </a:cubicBezTo>
                    <a:cubicBezTo>
                      <a:pt x="133079" y="2865850"/>
                      <a:pt x="301244" y="2802787"/>
                      <a:pt x="495685" y="2829063"/>
                    </a:cubicBezTo>
                    <a:cubicBezTo>
                      <a:pt x="690126" y="2855339"/>
                      <a:pt x="1092147" y="2842201"/>
                      <a:pt x="1220899" y="2766001"/>
                    </a:cubicBezTo>
                    <a:cubicBezTo>
                      <a:pt x="1349651" y="2689801"/>
                      <a:pt x="1268195" y="2563677"/>
                      <a:pt x="1268195" y="2371863"/>
                    </a:cubicBezTo>
                    <a:cubicBezTo>
                      <a:pt x="1268195" y="2180049"/>
                      <a:pt x="1173602" y="1764890"/>
                      <a:pt x="1220899" y="1615118"/>
                    </a:cubicBezTo>
                    <a:cubicBezTo>
                      <a:pt x="1268196" y="1465346"/>
                      <a:pt x="1213016" y="1507388"/>
                      <a:pt x="1551975" y="1473229"/>
                    </a:cubicBezTo>
                    <a:cubicBezTo>
                      <a:pt x="1890934" y="1439070"/>
                      <a:pt x="2928830" y="1425932"/>
                      <a:pt x="3254651" y="1410166"/>
                    </a:cubicBezTo>
                    <a:cubicBezTo>
                      <a:pt x="3580472" y="1394400"/>
                      <a:pt x="3456975" y="1244628"/>
                      <a:pt x="3506899" y="1378635"/>
                    </a:cubicBezTo>
                    <a:cubicBezTo>
                      <a:pt x="3556823" y="1512642"/>
                      <a:pt x="3548940" y="2009256"/>
                      <a:pt x="3554195" y="2214208"/>
                    </a:cubicBezTo>
                    <a:cubicBezTo>
                      <a:pt x="3559450" y="2419160"/>
                      <a:pt x="3362382" y="2547912"/>
                      <a:pt x="3538430" y="2608346"/>
                    </a:cubicBezTo>
                    <a:cubicBezTo>
                      <a:pt x="3714478" y="2668781"/>
                      <a:pt x="4384513" y="2681918"/>
                      <a:pt x="4610485" y="2576815"/>
                    </a:cubicBezTo>
                    <a:cubicBezTo>
                      <a:pt x="4836457" y="2471712"/>
                      <a:pt x="4896892" y="2287780"/>
                      <a:pt x="4894264" y="1977725"/>
                    </a:cubicBezTo>
                    <a:cubicBezTo>
                      <a:pt x="4891637" y="1667670"/>
                      <a:pt x="4791789" y="1039677"/>
                      <a:pt x="4594720" y="716484"/>
                    </a:cubicBezTo>
                    <a:cubicBezTo>
                      <a:pt x="4397651" y="393291"/>
                      <a:pt x="4042927" y="143669"/>
                      <a:pt x="3711851" y="38566"/>
                    </a:cubicBezTo>
                    <a:cubicBezTo>
                      <a:pt x="3380775" y="-66538"/>
                      <a:pt x="3036561" y="75352"/>
                      <a:pt x="2608264" y="85863"/>
                    </a:cubicBezTo>
                    <a:cubicBezTo>
                      <a:pt x="2179967" y="96373"/>
                      <a:pt x="1549347" y="-19240"/>
                      <a:pt x="1142071" y="101629"/>
                    </a:cubicBezTo>
                    <a:cubicBezTo>
                      <a:pt x="734795" y="222498"/>
                      <a:pt x="382699" y="582477"/>
                      <a:pt x="196140" y="779546"/>
                    </a:cubicBezTo>
                    <a:close/>
                  </a:path>
                </a:pathLst>
              </a:custGeom>
              <a:solidFill>
                <a:schemeClr val="accent1">
                  <a:alpha val="26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C2D6448-B402-B53B-907D-433AAF8D0008}"/>
                </a:ext>
              </a:extLst>
            </p:cNvPr>
            <p:cNvSpPr txBox="1"/>
            <p:nvPr/>
          </p:nvSpPr>
          <p:spPr>
            <a:xfrm>
              <a:off x="10301202" y="5135681"/>
              <a:ext cx="13345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/>
                <a:t>AREA 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1043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B0AFAF-9275-5406-53D9-BB6A7281BD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BD6873-A825-12B6-D46C-1F4F6C25C9ED}"/>
              </a:ext>
            </a:extLst>
          </p:cNvPr>
          <p:cNvSpPr txBox="1"/>
          <p:nvPr/>
        </p:nvSpPr>
        <p:spPr>
          <a:xfrm>
            <a:off x="11319163" y="100299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FAEDAC-A1E9-E469-AD6B-0A2E5DBCEE07}"/>
              </a:ext>
            </a:extLst>
          </p:cNvPr>
          <p:cNvSpPr txBox="1"/>
          <p:nvPr/>
        </p:nvSpPr>
        <p:spPr>
          <a:xfrm>
            <a:off x="11163268" y="250324"/>
            <a:ext cx="120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chemeClr val="bg1"/>
                </a:solidFill>
              </a:rPr>
              <a:t>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3ACC05-0682-5B89-D1B9-706B18D143FA}"/>
              </a:ext>
            </a:extLst>
          </p:cNvPr>
          <p:cNvSpPr txBox="1"/>
          <p:nvPr/>
        </p:nvSpPr>
        <p:spPr>
          <a:xfrm>
            <a:off x="11383615" y="507126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solidFill>
                  <a:schemeClr val="bg1"/>
                </a:solidFill>
              </a:rPr>
              <a:t>Strategy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6B7A42-7FA5-D42B-0ED0-22ED24C1CF78}"/>
              </a:ext>
            </a:extLst>
          </p:cNvPr>
          <p:cNvSpPr txBox="1"/>
          <p:nvPr/>
        </p:nvSpPr>
        <p:spPr>
          <a:xfrm>
            <a:off x="11450120" y="720280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solidFill>
                  <a:schemeClr val="bg1"/>
                </a:solidFill>
              </a:rPr>
              <a:t>Impact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7CD8BC-4493-C475-7666-B8524511B555}"/>
              </a:ext>
            </a:extLst>
          </p:cNvPr>
          <p:cNvSpPr txBox="1"/>
          <p:nvPr/>
        </p:nvSpPr>
        <p:spPr>
          <a:xfrm>
            <a:off x="0" y="209855"/>
            <a:ext cx="114501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Ashot Erkat U" panose="02000803060000020004" pitchFamily="2" charset="0"/>
              </a:rPr>
              <a:t>Financial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D78E8C-6353-AAF8-B852-A713FA2B7E9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0" t="67412" r="75394" b="4947"/>
          <a:stretch/>
        </p:blipFill>
        <p:spPr>
          <a:xfrm>
            <a:off x="677895" y="2288885"/>
            <a:ext cx="5240888" cy="407222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F888399-73F6-69B0-1D3D-960C59E14A7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75" t="15935" r="54009" b="55798"/>
          <a:stretch/>
        </p:blipFill>
        <p:spPr>
          <a:xfrm>
            <a:off x="6978333" y="2771143"/>
            <a:ext cx="3960394" cy="310770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CF61735-6E96-CD31-845C-6EAAC36CC0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556" b="1185"/>
          <a:stretch/>
        </p:blipFill>
        <p:spPr>
          <a:xfrm>
            <a:off x="0" y="6492240"/>
            <a:ext cx="12192000" cy="34939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F2366A4-5984-20D2-EFFC-B120AD81F621}"/>
              </a:ext>
            </a:extLst>
          </p:cNvPr>
          <p:cNvSpPr/>
          <p:nvPr/>
        </p:nvSpPr>
        <p:spPr>
          <a:xfrm>
            <a:off x="0" y="1375543"/>
            <a:ext cx="12192000" cy="6118585"/>
          </a:xfrm>
          <a:prstGeom prst="rect">
            <a:avLst/>
          </a:prstGeom>
          <a:solidFill>
            <a:srgbClr val="760000">
              <a:alpha val="2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348C8B-9B9B-9A8C-F470-8ED06318D12B}"/>
              </a:ext>
            </a:extLst>
          </p:cNvPr>
          <p:cNvSpPr txBox="1"/>
          <p:nvPr/>
        </p:nvSpPr>
        <p:spPr>
          <a:xfrm>
            <a:off x="41379" y="1058075"/>
            <a:ext cx="6513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1" dirty="0">
                <a:solidFill>
                  <a:schemeClr val="bg1"/>
                </a:solidFill>
              </a:rPr>
              <a:t>2024 fin. report is the most recent available data</a:t>
            </a:r>
          </a:p>
        </p:txBody>
      </p:sp>
    </p:spTree>
    <p:extLst>
      <p:ext uri="{BB962C8B-B14F-4D97-AF65-F5344CB8AC3E}">
        <p14:creationId xmlns:p14="http://schemas.microsoft.com/office/powerpoint/2010/main" val="1322122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40560D9-39B7-5D49-D61C-F50EE1878E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16CCBE-787F-76F8-28A5-8A6B31944DE1}"/>
              </a:ext>
            </a:extLst>
          </p:cNvPr>
          <p:cNvSpPr txBox="1"/>
          <p:nvPr/>
        </p:nvSpPr>
        <p:spPr>
          <a:xfrm>
            <a:off x="11319163" y="100299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FA03EB-EC4F-E4DA-05A5-D57DC3A982B5}"/>
              </a:ext>
            </a:extLst>
          </p:cNvPr>
          <p:cNvSpPr txBox="1"/>
          <p:nvPr/>
        </p:nvSpPr>
        <p:spPr>
          <a:xfrm>
            <a:off x="11163268" y="250324"/>
            <a:ext cx="120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chemeClr val="bg1"/>
                </a:solidFill>
              </a:rPr>
              <a:t>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F477F6-7AFE-A413-C041-8DDE483F2891}"/>
              </a:ext>
            </a:extLst>
          </p:cNvPr>
          <p:cNvSpPr txBox="1"/>
          <p:nvPr/>
        </p:nvSpPr>
        <p:spPr>
          <a:xfrm>
            <a:off x="11383615" y="507126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solidFill>
                  <a:schemeClr val="bg1"/>
                </a:solidFill>
              </a:rPr>
              <a:t>Strategy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A14352-2D29-104F-D7E0-852EF1DC4031}"/>
              </a:ext>
            </a:extLst>
          </p:cNvPr>
          <p:cNvSpPr txBox="1"/>
          <p:nvPr/>
        </p:nvSpPr>
        <p:spPr>
          <a:xfrm>
            <a:off x="11450120" y="720280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solidFill>
                  <a:schemeClr val="bg1"/>
                </a:solidFill>
              </a:rPr>
              <a:t>Impact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0B90E8-3D41-9B5A-FA68-C0BDEDE16FE3}"/>
              </a:ext>
            </a:extLst>
          </p:cNvPr>
          <p:cNvSpPr txBox="1"/>
          <p:nvPr/>
        </p:nvSpPr>
        <p:spPr>
          <a:xfrm>
            <a:off x="0" y="209855"/>
            <a:ext cx="1145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shot Erkat U" panose="02000803060000020004" pitchFamily="2" charset="0"/>
              </a:rPr>
              <a:t>Financial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1F7499-28A9-8A64-D47B-D2FCA80E4D3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41" t="44228" r="1184" b="32520"/>
          <a:stretch/>
        </p:blipFill>
        <p:spPr>
          <a:xfrm>
            <a:off x="101844" y="1132157"/>
            <a:ext cx="7057837" cy="228047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8D5C28-54C3-E2E8-F0D2-2882227760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40" t="15742" r="1354" b="55770"/>
          <a:stretch/>
        </p:blipFill>
        <p:spPr>
          <a:xfrm>
            <a:off x="3520353" y="3429000"/>
            <a:ext cx="8093249" cy="29218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5097FCD-2A46-3606-E90C-C77F941FB1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556" b="1185"/>
          <a:stretch/>
        </p:blipFill>
        <p:spPr>
          <a:xfrm>
            <a:off x="0" y="6492240"/>
            <a:ext cx="12192000" cy="34939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F58DFE5-F9D5-D602-C7E2-533B8142FCB3}"/>
              </a:ext>
            </a:extLst>
          </p:cNvPr>
          <p:cNvSpPr/>
          <p:nvPr/>
        </p:nvSpPr>
        <p:spPr>
          <a:xfrm>
            <a:off x="-895" y="1132157"/>
            <a:ext cx="12192000" cy="6118585"/>
          </a:xfrm>
          <a:prstGeom prst="rect">
            <a:avLst/>
          </a:prstGeom>
          <a:solidFill>
            <a:srgbClr val="760000">
              <a:alpha val="2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8966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944F2E6-5901-FEB6-1FC4-A96DC9A3F87E}"/>
              </a:ext>
            </a:extLst>
          </p:cNvPr>
          <p:cNvSpPr/>
          <p:nvPr/>
        </p:nvSpPr>
        <p:spPr>
          <a:xfrm>
            <a:off x="-103693" y="-47135"/>
            <a:ext cx="12156788" cy="743848"/>
          </a:xfrm>
          <a:prstGeom prst="rect">
            <a:avLst/>
          </a:prstGeom>
          <a:solidFill>
            <a:srgbClr val="7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ACB47E-70AE-CAC4-72DB-BB45A5000B8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885" t="2696" r="3321"/>
          <a:stretch/>
        </p:blipFill>
        <p:spPr>
          <a:xfrm>
            <a:off x="127809" y="2283894"/>
            <a:ext cx="5490391" cy="341946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0032C1E-1279-5472-0176-5304F5C3EAC2}"/>
              </a:ext>
            </a:extLst>
          </p:cNvPr>
          <p:cNvSpPr/>
          <p:nvPr/>
        </p:nvSpPr>
        <p:spPr>
          <a:xfrm>
            <a:off x="6308513" y="-47135"/>
            <a:ext cx="5883480" cy="6905135"/>
          </a:xfrm>
          <a:prstGeom prst="rect">
            <a:avLst/>
          </a:prstGeom>
          <a:solidFill>
            <a:srgbClr val="7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5F4497-CE73-F0EC-29E0-D07686AD0A79}"/>
              </a:ext>
            </a:extLst>
          </p:cNvPr>
          <p:cNvSpPr txBox="1"/>
          <p:nvPr/>
        </p:nvSpPr>
        <p:spPr>
          <a:xfrm>
            <a:off x="0" y="209855"/>
            <a:ext cx="11163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solidFill>
                  <a:schemeClr val="bg1"/>
                </a:solidFill>
                <a:latin typeface="Ashot Erkat U" panose="02000803060000020004" pitchFamily="2" charset="0"/>
              </a:rPr>
              <a:t>Market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462F41-9A00-1B7E-0EB0-4B7688BFE145}"/>
              </a:ext>
            </a:extLst>
          </p:cNvPr>
          <p:cNvSpPr txBox="1"/>
          <p:nvPr/>
        </p:nvSpPr>
        <p:spPr>
          <a:xfrm>
            <a:off x="11319163" y="100299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E202E2-7C8A-C056-7A70-8429FDCF2B0B}"/>
              </a:ext>
            </a:extLst>
          </p:cNvPr>
          <p:cNvSpPr txBox="1"/>
          <p:nvPr/>
        </p:nvSpPr>
        <p:spPr>
          <a:xfrm>
            <a:off x="11163268" y="250324"/>
            <a:ext cx="120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chemeClr val="bg1"/>
                </a:solidFill>
              </a:rPr>
              <a:t>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FE199D-D103-A384-3F0B-81DDC73EF8A7}"/>
              </a:ext>
            </a:extLst>
          </p:cNvPr>
          <p:cNvSpPr txBox="1"/>
          <p:nvPr/>
        </p:nvSpPr>
        <p:spPr>
          <a:xfrm>
            <a:off x="11383615" y="507126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solidFill>
                  <a:schemeClr val="bg1"/>
                </a:solidFill>
              </a:rPr>
              <a:t>Strategy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B944D5-4DCD-173D-8008-B2DB4922D80E}"/>
              </a:ext>
            </a:extLst>
          </p:cNvPr>
          <p:cNvSpPr txBox="1"/>
          <p:nvPr/>
        </p:nvSpPr>
        <p:spPr>
          <a:xfrm>
            <a:off x="11450120" y="720280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solidFill>
                  <a:schemeClr val="bg1"/>
                </a:solidFill>
              </a:rPr>
              <a:t>Impact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28C20AD-A2B5-0A27-FF62-5A1603F3A3B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3A3838"/>
              </a:clrFrom>
              <a:clrTo>
                <a:srgbClr val="3A383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08513" y="0"/>
            <a:ext cx="2298159" cy="685800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CD5E6D-F220-4403-42A8-29F7EA6EB47B}"/>
              </a:ext>
            </a:extLst>
          </p:cNvPr>
          <p:cNvCxnSpPr>
            <a:cxnSpLocks/>
          </p:cNvCxnSpPr>
          <p:nvPr/>
        </p:nvCxnSpPr>
        <p:spPr>
          <a:xfrm>
            <a:off x="8606672" y="-47135"/>
            <a:ext cx="0" cy="69946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D57B379-0BB7-79E2-F002-770A3DA3099A}"/>
              </a:ext>
            </a:extLst>
          </p:cNvPr>
          <p:cNvSpPr txBox="1"/>
          <p:nvPr/>
        </p:nvSpPr>
        <p:spPr>
          <a:xfrm>
            <a:off x="8883011" y="2773477"/>
            <a:ext cx="288323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</a:rPr>
              <a:t>“Auchan operates in a highly competitive retail market where growth is driven by expanding e-commerce, price-sensitive consumers, and increasing demand for efficient omnichannel shopping experiences”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F643EBA-5F5D-BD2C-6B28-D219DC5F3A23}"/>
              </a:ext>
            </a:extLst>
          </p:cNvPr>
          <p:cNvCxnSpPr>
            <a:cxnSpLocks/>
          </p:cNvCxnSpPr>
          <p:nvPr/>
        </p:nvCxnSpPr>
        <p:spPr>
          <a:xfrm>
            <a:off x="6308513" y="-68345"/>
            <a:ext cx="0" cy="69946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2954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push dir="r"/>
      </p:transition>
    </mc:Choice>
    <mc:Fallback xmlns="">
      <p:transition spd="slow">
        <p:push dir="r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968CD7-783D-2E44-D386-D5C21C8BCC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175971-676C-E85E-F979-2FA3F4784662}"/>
              </a:ext>
            </a:extLst>
          </p:cNvPr>
          <p:cNvSpPr txBox="1"/>
          <p:nvPr/>
        </p:nvSpPr>
        <p:spPr>
          <a:xfrm>
            <a:off x="151595" y="-345290"/>
            <a:ext cx="12683066" cy="689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 err="1">
                <a:solidFill>
                  <a:srgbClr val="C00000"/>
                </a:solidFill>
                <a:latin typeface="Bahnschrift" panose="020B0502040204020203" pitchFamily="34" charset="0"/>
              </a:rPr>
              <a:t>So</a:t>
            </a:r>
            <a:r>
              <a:rPr lang="en-US" sz="13800" b="1" dirty="0" err="1">
                <a:solidFill>
                  <a:srgbClr val="C00000"/>
                </a:solidFill>
                <a:latin typeface="Bahnschrift" panose="020B0502040204020203" pitchFamily="34" charset="0"/>
              </a:rPr>
              <a:t>o</a:t>
            </a:r>
            <a:r>
              <a:rPr lang="en-US" sz="11500" b="1" dirty="0" err="1">
                <a:solidFill>
                  <a:srgbClr val="C00000"/>
                </a:solidFill>
                <a:latin typeface="Bahnschrift" panose="020B0502040204020203" pitchFamily="34" charset="0"/>
              </a:rPr>
              <a:t>o</a:t>
            </a:r>
            <a:r>
              <a:rPr lang="en-US" sz="16600" b="1" dirty="0">
                <a:solidFill>
                  <a:srgbClr val="C00000"/>
                </a:solidFill>
                <a:latin typeface="Bahnschrift" panose="020B0502040204020203" pitchFamily="34" charset="0"/>
              </a:rPr>
              <a:t>. . .</a:t>
            </a:r>
          </a:p>
          <a:p>
            <a:r>
              <a:rPr lang="en-US" sz="13800" b="1" dirty="0">
                <a:solidFill>
                  <a:srgbClr val="C00000"/>
                </a:solidFill>
                <a:latin typeface="Bahnschrift" panose="020B0502040204020203" pitchFamily="34" charset="0"/>
              </a:rPr>
              <a:t>It’s time for </a:t>
            </a:r>
            <a:r>
              <a:rPr lang="en-US" sz="13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Strategy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A0EBE4-E4F1-379F-C480-2F83A03230E5}"/>
              </a:ext>
            </a:extLst>
          </p:cNvPr>
          <p:cNvSpPr txBox="1"/>
          <p:nvPr/>
        </p:nvSpPr>
        <p:spPr>
          <a:xfrm>
            <a:off x="11319163" y="100299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4FE556-8EBB-2232-12DC-618B1EAE54B8}"/>
              </a:ext>
            </a:extLst>
          </p:cNvPr>
          <p:cNvSpPr txBox="1"/>
          <p:nvPr/>
        </p:nvSpPr>
        <p:spPr>
          <a:xfrm>
            <a:off x="11163268" y="250324"/>
            <a:ext cx="120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chemeClr val="bg1"/>
                </a:solidFill>
              </a:rPr>
              <a:t>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234578-806C-3365-D7FB-B149D06D44CA}"/>
              </a:ext>
            </a:extLst>
          </p:cNvPr>
          <p:cNvSpPr txBox="1"/>
          <p:nvPr/>
        </p:nvSpPr>
        <p:spPr>
          <a:xfrm>
            <a:off x="11383615" y="507126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solidFill>
                  <a:schemeClr val="bg1"/>
                </a:solidFill>
              </a:rPr>
              <a:t>Strategy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449F5F-1E9D-E06E-EF8A-235C9F3EF0CA}"/>
              </a:ext>
            </a:extLst>
          </p:cNvPr>
          <p:cNvSpPr txBox="1"/>
          <p:nvPr/>
        </p:nvSpPr>
        <p:spPr>
          <a:xfrm>
            <a:off x="11450120" y="720280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solidFill>
                  <a:schemeClr val="bg1"/>
                </a:solidFill>
              </a:rPr>
              <a:t>Impact</a:t>
            </a:r>
          </a:p>
        </p:txBody>
      </p:sp>
    </p:spTree>
    <p:extLst>
      <p:ext uri="{BB962C8B-B14F-4D97-AF65-F5344CB8AC3E}">
        <p14:creationId xmlns:p14="http://schemas.microsoft.com/office/powerpoint/2010/main" val="1762732492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5D33E3-F861-AC4E-341A-FFA0D34BA5BA}"/>
              </a:ext>
            </a:extLst>
          </p:cNvPr>
          <p:cNvSpPr txBox="1"/>
          <p:nvPr/>
        </p:nvSpPr>
        <p:spPr>
          <a:xfrm>
            <a:off x="11319163" y="100299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352511-0827-0F4F-78C1-CD212C112696}"/>
              </a:ext>
            </a:extLst>
          </p:cNvPr>
          <p:cNvSpPr txBox="1"/>
          <p:nvPr/>
        </p:nvSpPr>
        <p:spPr>
          <a:xfrm>
            <a:off x="11411896" y="299209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C71704-3211-E3C1-5367-9E9E11DA16F9}"/>
              </a:ext>
            </a:extLst>
          </p:cNvPr>
          <p:cNvSpPr txBox="1"/>
          <p:nvPr/>
        </p:nvSpPr>
        <p:spPr>
          <a:xfrm>
            <a:off x="11147944" y="444235"/>
            <a:ext cx="120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Strategy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598CCD-76BE-6CE7-5553-7EC4D108ACFB}"/>
              </a:ext>
            </a:extLst>
          </p:cNvPr>
          <p:cNvSpPr txBox="1"/>
          <p:nvPr/>
        </p:nvSpPr>
        <p:spPr>
          <a:xfrm>
            <a:off x="11464409" y="720280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Impact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9D1189-0DAB-9823-4A96-4E7942F81D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89D315B-4C4D-10BD-91F0-5F37CFB3042D}"/>
              </a:ext>
            </a:extLst>
          </p:cNvPr>
          <p:cNvGrpSpPr/>
          <p:nvPr/>
        </p:nvGrpSpPr>
        <p:grpSpPr>
          <a:xfrm>
            <a:off x="9948172" y="5712177"/>
            <a:ext cx="1069289" cy="948499"/>
            <a:chOff x="9790128" y="4665407"/>
            <a:chExt cx="2223911" cy="197269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07AF65E-5AF8-045A-FBF7-ED6BA07BFE12}"/>
                </a:ext>
              </a:extLst>
            </p:cNvPr>
            <p:cNvGrpSpPr/>
            <p:nvPr/>
          </p:nvGrpSpPr>
          <p:grpSpPr>
            <a:xfrm>
              <a:off x="9790128" y="4665407"/>
              <a:ext cx="2223911" cy="1972692"/>
              <a:chOff x="110362" y="657216"/>
              <a:chExt cx="6858000" cy="6083301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9AFB704E-C707-955E-52E4-EA9AA18DCE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0362" y="657216"/>
                <a:ext cx="6858000" cy="6083301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FFFFFF"/>
                </a:solidFill>
                <a:miter lim="800000"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F3E13918-8339-1B17-1168-FF4649E5BA36}"/>
                  </a:ext>
                </a:extLst>
              </p:cNvPr>
              <p:cNvSpPr/>
              <p:nvPr/>
            </p:nvSpPr>
            <p:spPr>
              <a:xfrm>
                <a:off x="907446" y="2231668"/>
                <a:ext cx="4894345" cy="2841435"/>
              </a:xfrm>
              <a:custGeom>
                <a:avLst/>
                <a:gdLst>
                  <a:gd name="connsiteX0" fmla="*/ 196140 w 4894345"/>
                  <a:gd name="connsiteY0" fmla="*/ 779546 h 2841435"/>
                  <a:gd name="connsiteX1" fmla="*/ 22720 w 4894345"/>
                  <a:gd name="connsiteY1" fmla="*/ 1284042 h 2841435"/>
                  <a:gd name="connsiteX2" fmla="*/ 54251 w 4894345"/>
                  <a:gd name="connsiteY2" fmla="*/ 2608346 h 2841435"/>
                  <a:gd name="connsiteX3" fmla="*/ 495685 w 4894345"/>
                  <a:gd name="connsiteY3" fmla="*/ 2829063 h 2841435"/>
                  <a:gd name="connsiteX4" fmla="*/ 1220899 w 4894345"/>
                  <a:gd name="connsiteY4" fmla="*/ 2766001 h 2841435"/>
                  <a:gd name="connsiteX5" fmla="*/ 1268195 w 4894345"/>
                  <a:gd name="connsiteY5" fmla="*/ 2371863 h 2841435"/>
                  <a:gd name="connsiteX6" fmla="*/ 1220899 w 4894345"/>
                  <a:gd name="connsiteY6" fmla="*/ 1615118 h 2841435"/>
                  <a:gd name="connsiteX7" fmla="*/ 1551975 w 4894345"/>
                  <a:gd name="connsiteY7" fmla="*/ 1473229 h 2841435"/>
                  <a:gd name="connsiteX8" fmla="*/ 3254651 w 4894345"/>
                  <a:gd name="connsiteY8" fmla="*/ 1410166 h 2841435"/>
                  <a:gd name="connsiteX9" fmla="*/ 3506899 w 4894345"/>
                  <a:gd name="connsiteY9" fmla="*/ 1378635 h 2841435"/>
                  <a:gd name="connsiteX10" fmla="*/ 3554195 w 4894345"/>
                  <a:gd name="connsiteY10" fmla="*/ 2214208 h 2841435"/>
                  <a:gd name="connsiteX11" fmla="*/ 3538430 w 4894345"/>
                  <a:gd name="connsiteY11" fmla="*/ 2608346 h 2841435"/>
                  <a:gd name="connsiteX12" fmla="*/ 4610485 w 4894345"/>
                  <a:gd name="connsiteY12" fmla="*/ 2576815 h 2841435"/>
                  <a:gd name="connsiteX13" fmla="*/ 4894264 w 4894345"/>
                  <a:gd name="connsiteY13" fmla="*/ 1977725 h 2841435"/>
                  <a:gd name="connsiteX14" fmla="*/ 4594720 w 4894345"/>
                  <a:gd name="connsiteY14" fmla="*/ 716484 h 2841435"/>
                  <a:gd name="connsiteX15" fmla="*/ 3711851 w 4894345"/>
                  <a:gd name="connsiteY15" fmla="*/ 38566 h 2841435"/>
                  <a:gd name="connsiteX16" fmla="*/ 2608264 w 4894345"/>
                  <a:gd name="connsiteY16" fmla="*/ 85863 h 2841435"/>
                  <a:gd name="connsiteX17" fmla="*/ 1142071 w 4894345"/>
                  <a:gd name="connsiteY17" fmla="*/ 101629 h 2841435"/>
                  <a:gd name="connsiteX18" fmla="*/ 196140 w 4894345"/>
                  <a:gd name="connsiteY18" fmla="*/ 779546 h 28414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894345" h="2841435">
                    <a:moveTo>
                      <a:pt x="196140" y="779546"/>
                    </a:moveTo>
                    <a:cubicBezTo>
                      <a:pt x="9581" y="976615"/>
                      <a:pt x="46368" y="979242"/>
                      <a:pt x="22720" y="1284042"/>
                    </a:cubicBezTo>
                    <a:cubicBezTo>
                      <a:pt x="-928" y="1588842"/>
                      <a:pt x="-24577" y="2350842"/>
                      <a:pt x="54251" y="2608346"/>
                    </a:cubicBezTo>
                    <a:cubicBezTo>
                      <a:pt x="133079" y="2865850"/>
                      <a:pt x="301244" y="2802787"/>
                      <a:pt x="495685" y="2829063"/>
                    </a:cubicBezTo>
                    <a:cubicBezTo>
                      <a:pt x="690126" y="2855339"/>
                      <a:pt x="1092147" y="2842201"/>
                      <a:pt x="1220899" y="2766001"/>
                    </a:cubicBezTo>
                    <a:cubicBezTo>
                      <a:pt x="1349651" y="2689801"/>
                      <a:pt x="1268195" y="2563677"/>
                      <a:pt x="1268195" y="2371863"/>
                    </a:cubicBezTo>
                    <a:cubicBezTo>
                      <a:pt x="1268195" y="2180049"/>
                      <a:pt x="1173602" y="1764890"/>
                      <a:pt x="1220899" y="1615118"/>
                    </a:cubicBezTo>
                    <a:cubicBezTo>
                      <a:pt x="1268196" y="1465346"/>
                      <a:pt x="1213016" y="1507388"/>
                      <a:pt x="1551975" y="1473229"/>
                    </a:cubicBezTo>
                    <a:cubicBezTo>
                      <a:pt x="1890934" y="1439070"/>
                      <a:pt x="2928830" y="1425932"/>
                      <a:pt x="3254651" y="1410166"/>
                    </a:cubicBezTo>
                    <a:cubicBezTo>
                      <a:pt x="3580472" y="1394400"/>
                      <a:pt x="3456975" y="1244628"/>
                      <a:pt x="3506899" y="1378635"/>
                    </a:cubicBezTo>
                    <a:cubicBezTo>
                      <a:pt x="3556823" y="1512642"/>
                      <a:pt x="3548940" y="2009256"/>
                      <a:pt x="3554195" y="2214208"/>
                    </a:cubicBezTo>
                    <a:cubicBezTo>
                      <a:pt x="3559450" y="2419160"/>
                      <a:pt x="3362382" y="2547912"/>
                      <a:pt x="3538430" y="2608346"/>
                    </a:cubicBezTo>
                    <a:cubicBezTo>
                      <a:pt x="3714478" y="2668781"/>
                      <a:pt x="4384513" y="2681918"/>
                      <a:pt x="4610485" y="2576815"/>
                    </a:cubicBezTo>
                    <a:cubicBezTo>
                      <a:pt x="4836457" y="2471712"/>
                      <a:pt x="4896892" y="2287780"/>
                      <a:pt x="4894264" y="1977725"/>
                    </a:cubicBezTo>
                    <a:cubicBezTo>
                      <a:pt x="4891637" y="1667670"/>
                      <a:pt x="4791789" y="1039677"/>
                      <a:pt x="4594720" y="716484"/>
                    </a:cubicBezTo>
                    <a:cubicBezTo>
                      <a:pt x="4397651" y="393291"/>
                      <a:pt x="4042927" y="143669"/>
                      <a:pt x="3711851" y="38566"/>
                    </a:cubicBezTo>
                    <a:cubicBezTo>
                      <a:pt x="3380775" y="-66538"/>
                      <a:pt x="3036561" y="75352"/>
                      <a:pt x="2608264" y="85863"/>
                    </a:cubicBezTo>
                    <a:cubicBezTo>
                      <a:pt x="2179967" y="96373"/>
                      <a:pt x="1549347" y="-19240"/>
                      <a:pt x="1142071" y="101629"/>
                    </a:cubicBezTo>
                    <a:cubicBezTo>
                      <a:pt x="734795" y="222498"/>
                      <a:pt x="382699" y="582477"/>
                      <a:pt x="196140" y="779546"/>
                    </a:cubicBezTo>
                    <a:close/>
                  </a:path>
                </a:pathLst>
              </a:custGeom>
              <a:solidFill>
                <a:schemeClr val="accent1">
                  <a:alpha val="26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94F5197-F9EF-8C0C-0C80-B070EE3512CE}"/>
                </a:ext>
              </a:extLst>
            </p:cNvPr>
            <p:cNvSpPr txBox="1"/>
            <p:nvPr/>
          </p:nvSpPr>
          <p:spPr>
            <a:xfrm>
              <a:off x="10301202" y="5135682"/>
              <a:ext cx="1334541" cy="5440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AREA C</a:t>
              </a:r>
            </a:p>
          </p:txBody>
        </p:sp>
      </p:grpSp>
      <p:pic>
        <p:nvPicPr>
          <p:cNvPr id="53" name="Picture 52">
            <a:extLst>
              <a:ext uri="{FF2B5EF4-FFF2-40B4-BE49-F238E27FC236}">
                <a16:creationId xmlns:a16="http://schemas.microsoft.com/office/drawing/2014/main" id="{37DA0BE1-6162-6D53-75B1-6DBDE67E0C2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08" t="6228" r="45927" b="6228"/>
          <a:stretch>
            <a:fillRect/>
          </a:stretch>
        </p:blipFill>
        <p:spPr>
          <a:xfrm>
            <a:off x="1356429" y="5658989"/>
            <a:ext cx="836041" cy="82021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50B4909D-8629-D6DD-9754-3E9BEE745E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683" y="2446800"/>
            <a:ext cx="1807726" cy="10102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B8043AD5-DB52-43B1-01B3-3A638D22C2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502" y="2416017"/>
            <a:ext cx="1925379" cy="1075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340317"/>
      </p:ext>
    </p:extLst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6384D2-D098-3763-BC4D-B41571F66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681" y="225340"/>
            <a:ext cx="2740458" cy="3624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E8E9B4-33CB-5EDE-68D3-B44527C1C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355" y="1068264"/>
            <a:ext cx="6076306" cy="339558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24FD22AE-566B-F635-4441-5976D6701028}"/>
              </a:ext>
            </a:extLst>
          </p:cNvPr>
          <p:cNvGrpSpPr/>
          <p:nvPr/>
        </p:nvGrpSpPr>
        <p:grpSpPr>
          <a:xfrm>
            <a:off x="7325032" y="14318"/>
            <a:ext cx="4523613" cy="6843682"/>
            <a:chOff x="5247162" y="285304"/>
            <a:chExt cx="3740083" cy="5658296"/>
          </a:xfrm>
        </p:grpSpPr>
        <p:pic>
          <p:nvPicPr>
            <p:cNvPr id="1026" name="Picture 2" descr="Instagram Story Post Reel Template Stock Illustrations – 47 Instagram Story  Post Reel Template Stock Illustrations, Vectors &amp; Clipart - Dreamstime">
              <a:extLst>
                <a:ext uri="{FF2B5EF4-FFF2-40B4-BE49-F238E27FC236}">
                  <a16:creationId xmlns:a16="http://schemas.microsoft.com/office/drawing/2014/main" id="{2A8863C5-521F-2B7D-745E-12A0645CD72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495" t="11398" r="23968" b="6095"/>
            <a:stretch/>
          </p:blipFill>
          <p:spPr bwMode="auto">
            <a:xfrm>
              <a:off x="5247162" y="285304"/>
              <a:ext cx="3740083" cy="56582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D627E81-E9C6-661A-D20B-D8C68E55E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37105" y="2035277"/>
              <a:ext cx="2329656" cy="3077497"/>
            </a:xfrm>
            <a:prstGeom prst="rect">
              <a:avLst/>
            </a:prstGeom>
          </p:spPr>
        </p:pic>
      </p:grp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D58C1FDC-16CA-960F-0AC8-92085693487E}"/>
              </a:ext>
            </a:extLst>
          </p:cNvPr>
          <p:cNvCxnSpPr>
            <a:cxnSpLocks/>
            <a:stCxn id="21" idx="2"/>
          </p:cNvCxnSpPr>
          <p:nvPr/>
        </p:nvCxnSpPr>
        <p:spPr>
          <a:xfrm rot="10800000" flipH="1" flipV="1">
            <a:off x="2708873" y="2469739"/>
            <a:ext cx="5294584" cy="2672532"/>
          </a:xfrm>
          <a:prstGeom prst="bentConnector3">
            <a:avLst>
              <a:gd name="adj1" fmla="val -4318"/>
            </a:avLst>
          </a:prstGeom>
          <a:ln w="381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C4FACF36-0F91-ED6F-2B6B-057449EAD9B8}"/>
              </a:ext>
            </a:extLst>
          </p:cNvPr>
          <p:cNvSpPr/>
          <p:nvPr/>
        </p:nvSpPr>
        <p:spPr>
          <a:xfrm>
            <a:off x="2708873" y="2143925"/>
            <a:ext cx="651627" cy="651627"/>
          </a:xfrm>
          <a:prstGeom prst="ellipse">
            <a:avLst/>
          </a:prstGeom>
          <a:noFill/>
          <a:ln w="38100"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B022104-3676-080C-3482-8A09A2DC4A09}"/>
              </a:ext>
            </a:extLst>
          </p:cNvPr>
          <p:cNvSpPr/>
          <p:nvPr/>
        </p:nvSpPr>
        <p:spPr>
          <a:xfrm>
            <a:off x="1753441" y="2279648"/>
            <a:ext cx="651627" cy="651627"/>
          </a:xfrm>
          <a:prstGeom prst="ellipse">
            <a:avLst/>
          </a:prstGeom>
          <a:noFill/>
          <a:ln w="38100"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ViewPoint - Free electronics icons">
            <a:extLst>
              <a:ext uri="{FF2B5EF4-FFF2-40B4-BE49-F238E27FC236}">
                <a16:creationId xmlns:a16="http://schemas.microsoft.com/office/drawing/2014/main" id="{368055D6-DDC2-7EDF-86CF-FD9E70C36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292398">
            <a:off x="2840119" y="2268973"/>
            <a:ext cx="501446" cy="501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126906CC-B218-DC74-6403-296A2B3CCBA8}"/>
              </a:ext>
            </a:extLst>
          </p:cNvPr>
          <p:cNvCxnSpPr>
            <a:cxnSpLocks/>
            <a:stCxn id="22" idx="2"/>
          </p:cNvCxnSpPr>
          <p:nvPr/>
        </p:nvCxnSpPr>
        <p:spPr>
          <a:xfrm rot="10800000" flipH="1" flipV="1">
            <a:off x="1753441" y="2605462"/>
            <a:ext cx="6250016" cy="2025532"/>
          </a:xfrm>
          <a:prstGeom prst="bentConnector3">
            <a:avLst>
              <a:gd name="adj1" fmla="val -3658"/>
            </a:avLst>
          </a:prstGeom>
          <a:ln w="381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4" descr="ViewPoint - Free electronics icons">
            <a:extLst>
              <a:ext uri="{FF2B5EF4-FFF2-40B4-BE49-F238E27FC236}">
                <a16:creationId xmlns:a16="http://schemas.microsoft.com/office/drawing/2014/main" id="{ED10C131-0273-0161-61D1-E18CC4987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24306">
            <a:off x="1899387" y="2313043"/>
            <a:ext cx="501446" cy="501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C98B0FE-18C4-22E9-F908-33713EC9E3D3}"/>
              </a:ext>
            </a:extLst>
          </p:cNvPr>
          <p:cNvSpPr txBox="1"/>
          <p:nvPr/>
        </p:nvSpPr>
        <p:spPr>
          <a:xfrm>
            <a:off x="1855910" y="2476790"/>
            <a:ext cx="651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C7F9DED-D6CF-46A2-0A71-A9FEEF0480D0}"/>
              </a:ext>
            </a:extLst>
          </p:cNvPr>
          <p:cNvSpPr txBox="1"/>
          <p:nvPr/>
        </p:nvSpPr>
        <p:spPr>
          <a:xfrm>
            <a:off x="2793145" y="2205513"/>
            <a:ext cx="651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AA5A74-9022-1CD8-1826-46C837045996}"/>
              </a:ext>
            </a:extLst>
          </p:cNvPr>
          <p:cNvSpPr txBox="1"/>
          <p:nvPr/>
        </p:nvSpPr>
        <p:spPr>
          <a:xfrm>
            <a:off x="10723552" y="2150364"/>
            <a:ext cx="651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6DABAF6-A703-FA2C-6821-F13B9CCD498D}"/>
              </a:ext>
            </a:extLst>
          </p:cNvPr>
          <p:cNvGrpSpPr/>
          <p:nvPr/>
        </p:nvGrpSpPr>
        <p:grpSpPr>
          <a:xfrm>
            <a:off x="8280464" y="2130902"/>
            <a:ext cx="3115500" cy="3722218"/>
            <a:chOff x="8293204" y="2130902"/>
            <a:chExt cx="3115500" cy="3722218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ACCFC6B-35D4-4DE4-2D6B-C1E0395172C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93204" y="2130902"/>
              <a:ext cx="2804968" cy="3722218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74FCFDF-508C-0EF0-47C9-B9677631EB86}"/>
                </a:ext>
              </a:extLst>
            </p:cNvPr>
            <p:cNvSpPr txBox="1"/>
            <p:nvPr/>
          </p:nvSpPr>
          <p:spPr>
            <a:xfrm>
              <a:off x="10757077" y="2142926"/>
              <a:ext cx="6516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FEC4E527-7BB0-CD74-DB7F-20CDBED2A1E3}"/>
              </a:ext>
            </a:extLst>
          </p:cNvPr>
          <p:cNvSpPr txBox="1"/>
          <p:nvPr/>
        </p:nvSpPr>
        <p:spPr>
          <a:xfrm>
            <a:off x="30280" y="6488668"/>
            <a:ext cx="5525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#All concepts generated by Gemini AI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CEAE34C-07BF-800C-5953-0105B08EA1F1}"/>
              </a:ext>
            </a:extLst>
          </p:cNvPr>
          <p:cNvSpPr txBox="1"/>
          <p:nvPr/>
        </p:nvSpPr>
        <p:spPr>
          <a:xfrm>
            <a:off x="11319163" y="100299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Overview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7E55A31-E77E-5095-5D22-0776BE7FF6C4}"/>
              </a:ext>
            </a:extLst>
          </p:cNvPr>
          <p:cNvSpPr txBox="1"/>
          <p:nvPr/>
        </p:nvSpPr>
        <p:spPr>
          <a:xfrm>
            <a:off x="11411896" y="299209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Analysis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1DBB229-61E2-136A-A3D1-FCAB8EA2A520}"/>
              </a:ext>
            </a:extLst>
          </p:cNvPr>
          <p:cNvSpPr txBox="1"/>
          <p:nvPr/>
        </p:nvSpPr>
        <p:spPr>
          <a:xfrm>
            <a:off x="11147944" y="444235"/>
            <a:ext cx="120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Strategy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87BA45F-BE60-B3ED-7BFC-48473E2EA040}"/>
              </a:ext>
            </a:extLst>
          </p:cNvPr>
          <p:cNvSpPr txBox="1"/>
          <p:nvPr/>
        </p:nvSpPr>
        <p:spPr>
          <a:xfrm>
            <a:off x="11464409" y="720280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Impact</a:t>
            </a:r>
          </a:p>
        </p:txBody>
      </p:sp>
    </p:spTree>
    <p:extLst>
      <p:ext uri="{BB962C8B-B14F-4D97-AF65-F5344CB8AC3E}">
        <p14:creationId xmlns:p14="http://schemas.microsoft.com/office/powerpoint/2010/main" val="349713832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E8E9B4-33CB-5EDE-68D3-B44527C1C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375469" y="2614577"/>
            <a:ext cx="3908566" cy="2184199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C4FACF36-0F91-ED6F-2B6B-057449EAD9B8}"/>
              </a:ext>
            </a:extLst>
          </p:cNvPr>
          <p:cNvSpPr/>
          <p:nvPr/>
        </p:nvSpPr>
        <p:spPr>
          <a:xfrm>
            <a:off x="1617492" y="4323408"/>
            <a:ext cx="651627" cy="651627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4" descr="ViewPoint - Free electronics icons">
            <a:extLst>
              <a:ext uri="{FF2B5EF4-FFF2-40B4-BE49-F238E27FC236}">
                <a16:creationId xmlns:a16="http://schemas.microsoft.com/office/drawing/2014/main" id="{ED10C131-0273-0161-61D1-E18CC4987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691611">
            <a:off x="1754398" y="4443709"/>
            <a:ext cx="501446" cy="501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0AA5A74-9022-1CD8-1826-46C837045996}"/>
              </a:ext>
            </a:extLst>
          </p:cNvPr>
          <p:cNvSpPr txBox="1"/>
          <p:nvPr/>
        </p:nvSpPr>
        <p:spPr>
          <a:xfrm>
            <a:off x="10723552" y="2150364"/>
            <a:ext cx="651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B8513E-F22B-012D-8051-5E360A269D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303" y="186920"/>
            <a:ext cx="2114252" cy="588674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2F13D94A-B118-8435-AD5A-3CC42940CCDC}"/>
              </a:ext>
            </a:extLst>
          </p:cNvPr>
          <p:cNvGrpSpPr/>
          <p:nvPr/>
        </p:nvGrpSpPr>
        <p:grpSpPr>
          <a:xfrm>
            <a:off x="1825318" y="1062587"/>
            <a:ext cx="10951025" cy="4952628"/>
            <a:chOff x="3963116" y="1939785"/>
            <a:chExt cx="7088147" cy="3205632"/>
          </a:xfrm>
        </p:grpSpPr>
        <p:pic>
          <p:nvPicPr>
            <p:cNvPr id="3076" name="Picture 4" descr="Instagram story iphone Images - Free Download on Magnific (formerly Freepik)">
              <a:extLst>
                <a:ext uri="{FF2B5EF4-FFF2-40B4-BE49-F238E27FC236}">
                  <a16:creationId xmlns:a16="http://schemas.microsoft.com/office/drawing/2014/main" id="{758955E3-39BA-31BA-A39F-4A4D0A739EE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clrChange>
                <a:clrFrom>
                  <a:srgbClr val="575757"/>
                </a:clrFrom>
                <a:clrTo>
                  <a:srgbClr val="575757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r="8014"/>
            <a:stretch/>
          </p:blipFill>
          <p:spPr bwMode="auto">
            <a:xfrm rot="16200000">
              <a:off x="5904374" y="-1473"/>
              <a:ext cx="3205632" cy="70881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E607AD1-C3CB-720A-43B0-D08DB6321B9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14218" y="2275023"/>
              <a:ext cx="4090220" cy="2542637"/>
            </a:xfrm>
            <a:prstGeom prst="rect">
              <a:avLst/>
            </a:prstGeom>
          </p:spPr>
        </p:pic>
      </p:grp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619C122E-E1E3-5801-28A9-908886FC6DA4}"/>
              </a:ext>
            </a:extLst>
          </p:cNvPr>
          <p:cNvCxnSpPr>
            <a:cxnSpLocks/>
          </p:cNvCxnSpPr>
          <p:nvPr/>
        </p:nvCxnSpPr>
        <p:spPr>
          <a:xfrm rot="10800000" flipH="1">
            <a:off x="1617491" y="3429000"/>
            <a:ext cx="2856185" cy="1180894"/>
          </a:xfrm>
          <a:prstGeom prst="bentConnector3">
            <a:avLst>
              <a:gd name="adj1" fmla="val -8004"/>
            </a:avLst>
          </a:prstGeom>
          <a:ln w="381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A879232-8B1D-0241-6C7A-133C8FC4B831}"/>
              </a:ext>
            </a:extLst>
          </p:cNvPr>
          <p:cNvSpPr txBox="1"/>
          <p:nvPr/>
        </p:nvSpPr>
        <p:spPr>
          <a:xfrm>
            <a:off x="8406580" y="6487344"/>
            <a:ext cx="5525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#All concepts generated by Gemini AI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019019-73B4-00F7-165F-04867F8B9CDB}"/>
              </a:ext>
            </a:extLst>
          </p:cNvPr>
          <p:cNvSpPr txBox="1"/>
          <p:nvPr/>
        </p:nvSpPr>
        <p:spPr>
          <a:xfrm>
            <a:off x="11319163" y="100299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Overview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9A815B-339F-5F9C-4815-EE613286A861}"/>
              </a:ext>
            </a:extLst>
          </p:cNvPr>
          <p:cNvSpPr txBox="1"/>
          <p:nvPr/>
        </p:nvSpPr>
        <p:spPr>
          <a:xfrm>
            <a:off x="11411896" y="299209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Analysis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BF229C-DCE6-A3D5-C091-53BA8EB42A28}"/>
              </a:ext>
            </a:extLst>
          </p:cNvPr>
          <p:cNvSpPr txBox="1"/>
          <p:nvPr/>
        </p:nvSpPr>
        <p:spPr>
          <a:xfrm>
            <a:off x="11147944" y="444235"/>
            <a:ext cx="120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Strategy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31CBFC-D4A9-F42C-F49C-8730940B245B}"/>
              </a:ext>
            </a:extLst>
          </p:cNvPr>
          <p:cNvSpPr txBox="1"/>
          <p:nvPr/>
        </p:nvSpPr>
        <p:spPr>
          <a:xfrm>
            <a:off x="11464409" y="720280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Impact</a:t>
            </a:r>
          </a:p>
        </p:txBody>
      </p:sp>
    </p:spTree>
    <p:extLst>
      <p:ext uri="{BB962C8B-B14F-4D97-AF65-F5344CB8AC3E}">
        <p14:creationId xmlns:p14="http://schemas.microsoft.com/office/powerpoint/2010/main" val="82354836"/>
      </p:ext>
    </p:extLst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332770-2578-0743-960B-E5D3AE2A6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15" y="109720"/>
            <a:ext cx="2415749" cy="7392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94C3FB-B947-03E9-6290-125E48E4E8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3910" y="160665"/>
            <a:ext cx="8207728" cy="4086836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8FC0BB7-917B-7373-5289-6A42441D58F7}"/>
              </a:ext>
            </a:extLst>
          </p:cNvPr>
          <p:cNvGrpSpPr/>
          <p:nvPr/>
        </p:nvGrpSpPr>
        <p:grpSpPr>
          <a:xfrm>
            <a:off x="110362" y="3759695"/>
            <a:ext cx="3360425" cy="2980822"/>
            <a:chOff x="110362" y="657216"/>
            <a:chExt cx="6858000" cy="608330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CC18EA7-86A6-97BF-69ED-DDD98C3E8A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362" y="657216"/>
              <a:ext cx="6858000" cy="6083301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A09F123-89AB-9E58-C6EC-5970F050F30C}"/>
                </a:ext>
              </a:extLst>
            </p:cNvPr>
            <p:cNvSpPr/>
            <p:nvPr/>
          </p:nvSpPr>
          <p:spPr>
            <a:xfrm>
              <a:off x="907446" y="2231668"/>
              <a:ext cx="4894345" cy="2841435"/>
            </a:xfrm>
            <a:custGeom>
              <a:avLst/>
              <a:gdLst>
                <a:gd name="connsiteX0" fmla="*/ 196140 w 4894345"/>
                <a:gd name="connsiteY0" fmla="*/ 779546 h 2841435"/>
                <a:gd name="connsiteX1" fmla="*/ 22720 w 4894345"/>
                <a:gd name="connsiteY1" fmla="*/ 1284042 h 2841435"/>
                <a:gd name="connsiteX2" fmla="*/ 54251 w 4894345"/>
                <a:gd name="connsiteY2" fmla="*/ 2608346 h 2841435"/>
                <a:gd name="connsiteX3" fmla="*/ 495685 w 4894345"/>
                <a:gd name="connsiteY3" fmla="*/ 2829063 h 2841435"/>
                <a:gd name="connsiteX4" fmla="*/ 1220899 w 4894345"/>
                <a:gd name="connsiteY4" fmla="*/ 2766001 h 2841435"/>
                <a:gd name="connsiteX5" fmla="*/ 1268195 w 4894345"/>
                <a:gd name="connsiteY5" fmla="*/ 2371863 h 2841435"/>
                <a:gd name="connsiteX6" fmla="*/ 1220899 w 4894345"/>
                <a:gd name="connsiteY6" fmla="*/ 1615118 h 2841435"/>
                <a:gd name="connsiteX7" fmla="*/ 1551975 w 4894345"/>
                <a:gd name="connsiteY7" fmla="*/ 1473229 h 2841435"/>
                <a:gd name="connsiteX8" fmla="*/ 3254651 w 4894345"/>
                <a:gd name="connsiteY8" fmla="*/ 1410166 h 2841435"/>
                <a:gd name="connsiteX9" fmla="*/ 3506899 w 4894345"/>
                <a:gd name="connsiteY9" fmla="*/ 1378635 h 2841435"/>
                <a:gd name="connsiteX10" fmla="*/ 3554195 w 4894345"/>
                <a:gd name="connsiteY10" fmla="*/ 2214208 h 2841435"/>
                <a:gd name="connsiteX11" fmla="*/ 3538430 w 4894345"/>
                <a:gd name="connsiteY11" fmla="*/ 2608346 h 2841435"/>
                <a:gd name="connsiteX12" fmla="*/ 4610485 w 4894345"/>
                <a:gd name="connsiteY12" fmla="*/ 2576815 h 2841435"/>
                <a:gd name="connsiteX13" fmla="*/ 4894264 w 4894345"/>
                <a:gd name="connsiteY13" fmla="*/ 1977725 h 2841435"/>
                <a:gd name="connsiteX14" fmla="*/ 4594720 w 4894345"/>
                <a:gd name="connsiteY14" fmla="*/ 716484 h 2841435"/>
                <a:gd name="connsiteX15" fmla="*/ 3711851 w 4894345"/>
                <a:gd name="connsiteY15" fmla="*/ 38566 h 2841435"/>
                <a:gd name="connsiteX16" fmla="*/ 2608264 w 4894345"/>
                <a:gd name="connsiteY16" fmla="*/ 85863 h 2841435"/>
                <a:gd name="connsiteX17" fmla="*/ 1142071 w 4894345"/>
                <a:gd name="connsiteY17" fmla="*/ 101629 h 2841435"/>
                <a:gd name="connsiteX18" fmla="*/ 196140 w 4894345"/>
                <a:gd name="connsiteY18" fmla="*/ 779546 h 284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94345" h="2841435">
                  <a:moveTo>
                    <a:pt x="196140" y="779546"/>
                  </a:moveTo>
                  <a:cubicBezTo>
                    <a:pt x="9581" y="976615"/>
                    <a:pt x="46368" y="979242"/>
                    <a:pt x="22720" y="1284042"/>
                  </a:cubicBezTo>
                  <a:cubicBezTo>
                    <a:pt x="-928" y="1588842"/>
                    <a:pt x="-24577" y="2350842"/>
                    <a:pt x="54251" y="2608346"/>
                  </a:cubicBezTo>
                  <a:cubicBezTo>
                    <a:pt x="133079" y="2865850"/>
                    <a:pt x="301244" y="2802787"/>
                    <a:pt x="495685" y="2829063"/>
                  </a:cubicBezTo>
                  <a:cubicBezTo>
                    <a:pt x="690126" y="2855339"/>
                    <a:pt x="1092147" y="2842201"/>
                    <a:pt x="1220899" y="2766001"/>
                  </a:cubicBezTo>
                  <a:cubicBezTo>
                    <a:pt x="1349651" y="2689801"/>
                    <a:pt x="1268195" y="2563677"/>
                    <a:pt x="1268195" y="2371863"/>
                  </a:cubicBezTo>
                  <a:cubicBezTo>
                    <a:pt x="1268195" y="2180049"/>
                    <a:pt x="1173602" y="1764890"/>
                    <a:pt x="1220899" y="1615118"/>
                  </a:cubicBezTo>
                  <a:cubicBezTo>
                    <a:pt x="1268196" y="1465346"/>
                    <a:pt x="1213016" y="1507388"/>
                    <a:pt x="1551975" y="1473229"/>
                  </a:cubicBezTo>
                  <a:cubicBezTo>
                    <a:pt x="1890934" y="1439070"/>
                    <a:pt x="2928830" y="1425932"/>
                    <a:pt x="3254651" y="1410166"/>
                  </a:cubicBezTo>
                  <a:cubicBezTo>
                    <a:pt x="3580472" y="1394400"/>
                    <a:pt x="3456975" y="1244628"/>
                    <a:pt x="3506899" y="1378635"/>
                  </a:cubicBezTo>
                  <a:cubicBezTo>
                    <a:pt x="3556823" y="1512642"/>
                    <a:pt x="3548940" y="2009256"/>
                    <a:pt x="3554195" y="2214208"/>
                  </a:cubicBezTo>
                  <a:cubicBezTo>
                    <a:pt x="3559450" y="2419160"/>
                    <a:pt x="3362382" y="2547912"/>
                    <a:pt x="3538430" y="2608346"/>
                  </a:cubicBezTo>
                  <a:cubicBezTo>
                    <a:pt x="3714478" y="2668781"/>
                    <a:pt x="4384513" y="2681918"/>
                    <a:pt x="4610485" y="2576815"/>
                  </a:cubicBezTo>
                  <a:cubicBezTo>
                    <a:pt x="4836457" y="2471712"/>
                    <a:pt x="4896892" y="2287780"/>
                    <a:pt x="4894264" y="1977725"/>
                  </a:cubicBezTo>
                  <a:cubicBezTo>
                    <a:pt x="4891637" y="1667670"/>
                    <a:pt x="4791789" y="1039677"/>
                    <a:pt x="4594720" y="716484"/>
                  </a:cubicBezTo>
                  <a:cubicBezTo>
                    <a:pt x="4397651" y="393291"/>
                    <a:pt x="4042927" y="143669"/>
                    <a:pt x="3711851" y="38566"/>
                  </a:cubicBezTo>
                  <a:cubicBezTo>
                    <a:pt x="3380775" y="-66538"/>
                    <a:pt x="3036561" y="75352"/>
                    <a:pt x="2608264" y="85863"/>
                  </a:cubicBezTo>
                  <a:cubicBezTo>
                    <a:pt x="2179967" y="96373"/>
                    <a:pt x="1549347" y="-19240"/>
                    <a:pt x="1142071" y="101629"/>
                  </a:cubicBezTo>
                  <a:cubicBezTo>
                    <a:pt x="734795" y="222498"/>
                    <a:pt x="382699" y="582477"/>
                    <a:pt x="196140" y="779546"/>
                  </a:cubicBezTo>
                  <a:close/>
                </a:path>
              </a:pathLst>
            </a:custGeom>
            <a:solidFill>
              <a:schemeClr val="accent1">
                <a:alpha val="26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2A3D3510-3208-A231-121D-2FBB180A30ED}"/>
              </a:ext>
            </a:extLst>
          </p:cNvPr>
          <p:cNvSpPr/>
          <p:nvPr/>
        </p:nvSpPr>
        <p:spPr>
          <a:xfrm>
            <a:off x="500934" y="5354559"/>
            <a:ext cx="651627" cy="651627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4" descr="ViewPoint - Free electronics icons">
            <a:extLst>
              <a:ext uri="{FF2B5EF4-FFF2-40B4-BE49-F238E27FC236}">
                <a16:creationId xmlns:a16="http://schemas.microsoft.com/office/drawing/2014/main" id="{6FD88116-FA21-8CDD-DADA-CD499B25D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023784">
            <a:off x="123240" y="4197752"/>
            <a:ext cx="501446" cy="501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C7D6A30-16CB-BE7B-A6E6-66F39BC2BE0B}"/>
              </a:ext>
            </a:extLst>
          </p:cNvPr>
          <p:cNvSpPr txBox="1"/>
          <p:nvPr/>
        </p:nvSpPr>
        <p:spPr>
          <a:xfrm>
            <a:off x="8406580" y="6487344"/>
            <a:ext cx="5525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#All concepts generated by Gemini AI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A80CCD-9EFE-FD92-C1F9-D6373A86F8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9884" y="4650659"/>
            <a:ext cx="1726427" cy="176154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681CE23-B8D3-0CEB-5DF1-05B3E2B669F2}"/>
              </a:ext>
            </a:extLst>
          </p:cNvPr>
          <p:cNvSpPr txBox="1"/>
          <p:nvPr/>
        </p:nvSpPr>
        <p:spPr>
          <a:xfrm>
            <a:off x="5834062" y="4603775"/>
            <a:ext cx="1043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for 360 view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2E6CC18-6BE8-FACF-9650-E1D3815FD0CF}"/>
              </a:ext>
            </a:extLst>
          </p:cNvPr>
          <p:cNvSpPr/>
          <p:nvPr/>
        </p:nvSpPr>
        <p:spPr>
          <a:xfrm>
            <a:off x="223220" y="3221183"/>
            <a:ext cx="3650690" cy="1036185"/>
          </a:xfrm>
          <a:custGeom>
            <a:avLst/>
            <a:gdLst>
              <a:gd name="connsiteX0" fmla="*/ 61915 w 3650690"/>
              <a:gd name="connsiteY0" fmla="*/ 1036185 h 1036185"/>
              <a:gd name="connsiteX1" fmla="*/ 42251 w 3650690"/>
              <a:gd name="connsiteY1" fmla="*/ 544572 h 1036185"/>
              <a:gd name="connsiteX2" fmla="*/ 543696 w 3650690"/>
              <a:gd name="connsiteY2" fmla="*/ 62791 h 1036185"/>
              <a:gd name="connsiteX3" fmla="*/ 1654741 w 3650690"/>
              <a:gd name="connsiteY3" fmla="*/ 3798 h 1036185"/>
              <a:gd name="connsiteX4" fmla="*/ 3650690 w 3650690"/>
              <a:gd name="connsiteY4" fmla="*/ 43127 h 1036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50690" h="1036185" extrusionOk="0">
                <a:moveTo>
                  <a:pt x="61915" y="1036185"/>
                </a:moveTo>
                <a:cubicBezTo>
                  <a:pt x="-17827" y="872767"/>
                  <a:pt x="-17667" y="726840"/>
                  <a:pt x="42251" y="544572"/>
                </a:cubicBezTo>
                <a:cubicBezTo>
                  <a:pt x="144280" y="426942"/>
                  <a:pt x="275995" y="184884"/>
                  <a:pt x="543696" y="62791"/>
                </a:cubicBezTo>
                <a:cubicBezTo>
                  <a:pt x="772573" y="-87491"/>
                  <a:pt x="1171619" y="49042"/>
                  <a:pt x="1654741" y="3798"/>
                </a:cubicBezTo>
                <a:cubicBezTo>
                  <a:pt x="2181596" y="-33043"/>
                  <a:pt x="2947243" y="88220"/>
                  <a:pt x="3650690" y="43127"/>
                </a:cubicBezTo>
              </a:path>
            </a:pathLst>
          </a:custGeom>
          <a:noFill/>
          <a:ln w="28575">
            <a:solidFill>
              <a:schemeClr val="tx1"/>
            </a:solidFill>
            <a:headEnd type="arrow" w="med" len="med"/>
            <a:tailEnd type="arrow" w="med" len="med"/>
            <a:extLst>
              <a:ext uri="{C807C97D-BFC1-408E-A445-0C87EB9F89A2}">
                <ask:lineSketchStyleProps xmlns:ask="http://schemas.microsoft.com/office/drawing/2018/sketchyshapes" sd="2650216993">
                  <a:custGeom>
                    <a:avLst/>
                    <a:gdLst>
                      <a:gd name="connsiteX0" fmla="*/ 61915 w 3650690"/>
                      <a:gd name="connsiteY0" fmla="*/ 1036185 h 1036185"/>
                      <a:gd name="connsiteX1" fmla="*/ 42251 w 3650690"/>
                      <a:gd name="connsiteY1" fmla="*/ 544572 h 1036185"/>
                      <a:gd name="connsiteX2" fmla="*/ 543696 w 3650690"/>
                      <a:gd name="connsiteY2" fmla="*/ 62791 h 1036185"/>
                      <a:gd name="connsiteX3" fmla="*/ 1654741 w 3650690"/>
                      <a:gd name="connsiteY3" fmla="*/ 3798 h 1036185"/>
                      <a:gd name="connsiteX4" fmla="*/ 3650690 w 3650690"/>
                      <a:gd name="connsiteY4" fmla="*/ 43127 h 10361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650690" h="1036185">
                        <a:moveTo>
                          <a:pt x="61915" y="1036185"/>
                        </a:moveTo>
                        <a:cubicBezTo>
                          <a:pt x="11934" y="871494"/>
                          <a:pt x="-38046" y="706804"/>
                          <a:pt x="42251" y="544572"/>
                        </a:cubicBezTo>
                        <a:cubicBezTo>
                          <a:pt x="122548" y="382340"/>
                          <a:pt x="274948" y="152920"/>
                          <a:pt x="543696" y="62791"/>
                        </a:cubicBezTo>
                        <a:cubicBezTo>
                          <a:pt x="812444" y="-27338"/>
                          <a:pt x="1136909" y="7075"/>
                          <a:pt x="1654741" y="3798"/>
                        </a:cubicBezTo>
                        <a:cubicBezTo>
                          <a:pt x="2172573" y="521"/>
                          <a:pt x="2911631" y="21824"/>
                          <a:pt x="3650690" y="43127"/>
                        </a:cubicBez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4DAAFE5-EC84-5617-90F9-20DC51D3F036}"/>
              </a:ext>
            </a:extLst>
          </p:cNvPr>
          <p:cNvSpPr/>
          <p:nvPr/>
        </p:nvSpPr>
        <p:spPr>
          <a:xfrm>
            <a:off x="825910" y="4866564"/>
            <a:ext cx="3264309" cy="649333"/>
          </a:xfrm>
          <a:custGeom>
            <a:avLst/>
            <a:gdLst>
              <a:gd name="connsiteX0" fmla="*/ 0 w 3264309"/>
              <a:gd name="connsiteY0" fmla="*/ 649333 h 649333"/>
              <a:gd name="connsiteX1" fmla="*/ 186813 w 3264309"/>
              <a:gd name="connsiteY1" fmla="*/ 305204 h 649333"/>
              <a:gd name="connsiteX2" fmla="*/ 914400 w 3264309"/>
              <a:gd name="connsiteY2" fmla="*/ 404 h 649333"/>
              <a:gd name="connsiteX3" fmla="*/ 2054942 w 3264309"/>
              <a:gd name="connsiteY3" fmla="*/ 246210 h 649333"/>
              <a:gd name="connsiteX4" fmla="*/ 2821858 w 3264309"/>
              <a:gd name="connsiteY4" fmla="*/ 501849 h 649333"/>
              <a:gd name="connsiteX5" fmla="*/ 3264309 w 3264309"/>
              <a:gd name="connsiteY5" fmla="*/ 521513 h 649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4309" h="649333" extrusionOk="0">
                <a:moveTo>
                  <a:pt x="0" y="649333"/>
                </a:moveTo>
                <a:cubicBezTo>
                  <a:pt x="8522" y="518316"/>
                  <a:pt x="32008" y="404299"/>
                  <a:pt x="186813" y="305204"/>
                </a:cubicBezTo>
                <a:cubicBezTo>
                  <a:pt x="397053" y="236789"/>
                  <a:pt x="634530" y="61140"/>
                  <a:pt x="914400" y="404"/>
                </a:cubicBezTo>
                <a:cubicBezTo>
                  <a:pt x="1206492" y="-57427"/>
                  <a:pt x="1715548" y="137703"/>
                  <a:pt x="2054942" y="246210"/>
                </a:cubicBezTo>
                <a:cubicBezTo>
                  <a:pt x="2379933" y="339869"/>
                  <a:pt x="2579650" y="484460"/>
                  <a:pt x="2821858" y="501849"/>
                </a:cubicBezTo>
                <a:cubicBezTo>
                  <a:pt x="3022947" y="566522"/>
                  <a:pt x="3156614" y="540526"/>
                  <a:pt x="3264309" y="521513"/>
                </a:cubicBezTo>
              </a:path>
            </a:pathLst>
          </a:custGeom>
          <a:noFill/>
          <a:ln w="28575">
            <a:solidFill>
              <a:schemeClr val="tx1"/>
            </a:solidFill>
            <a:headEnd type="triangle" w="med" len="med"/>
            <a:tailEnd type="triangle" w="med" len="med"/>
            <a:extLst>
              <a:ext uri="{C807C97D-BFC1-408E-A445-0C87EB9F89A2}">
                <ask:lineSketchStyleProps xmlns:ask="http://schemas.microsoft.com/office/drawing/2018/sketchyshapes" sd="1737963142">
                  <a:custGeom>
                    <a:avLst/>
                    <a:gdLst>
                      <a:gd name="connsiteX0" fmla="*/ 0 w 3264309"/>
                      <a:gd name="connsiteY0" fmla="*/ 649333 h 649333"/>
                      <a:gd name="connsiteX1" fmla="*/ 186813 w 3264309"/>
                      <a:gd name="connsiteY1" fmla="*/ 305204 h 649333"/>
                      <a:gd name="connsiteX2" fmla="*/ 914400 w 3264309"/>
                      <a:gd name="connsiteY2" fmla="*/ 404 h 649333"/>
                      <a:gd name="connsiteX3" fmla="*/ 2054942 w 3264309"/>
                      <a:gd name="connsiteY3" fmla="*/ 246210 h 649333"/>
                      <a:gd name="connsiteX4" fmla="*/ 2821858 w 3264309"/>
                      <a:gd name="connsiteY4" fmla="*/ 501849 h 649333"/>
                      <a:gd name="connsiteX5" fmla="*/ 3264309 w 3264309"/>
                      <a:gd name="connsiteY5" fmla="*/ 521513 h 6493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264309" h="649333">
                        <a:moveTo>
                          <a:pt x="0" y="649333"/>
                        </a:moveTo>
                        <a:cubicBezTo>
                          <a:pt x="17206" y="531346"/>
                          <a:pt x="34413" y="413359"/>
                          <a:pt x="186813" y="305204"/>
                        </a:cubicBezTo>
                        <a:cubicBezTo>
                          <a:pt x="339213" y="197049"/>
                          <a:pt x="603045" y="10236"/>
                          <a:pt x="914400" y="404"/>
                        </a:cubicBezTo>
                        <a:cubicBezTo>
                          <a:pt x="1225755" y="-9428"/>
                          <a:pt x="1737032" y="162636"/>
                          <a:pt x="2054942" y="246210"/>
                        </a:cubicBezTo>
                        <a:cubicBezTo>
                          <a:pt x="2372852" y="329784"/>
                          <a:pt x="2620297" y="455965"/>
                          <a:pt x="2821858" y="501849"/>
                        </a:cubicBezTo>
                        <a:cubicBezTo>
                          <a:pt x="3023419" y="547733"/>
                          <a:pt x="3143864" y="534623"/>
                          <a:pt x="3264309" y="521513"/>
                        </a:cubicBez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82956E6-05C2-E1B4-9F2C-E1A303C6F7E1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736800" y="5523496"/>
            <a:ext cx="143827" cy="26010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47C6160-CE0D-21C9-4898-72F94B0276DB}"/>
              </a:ext>
            </a:extLst>
          </p:cNvPr>
          <p:cNvSpPr txBox="1"/>
          <p:nvPr/>
        </p:nvSpPr>
        <p:spPr>
          <a:xfrm>
            <a:off x="11319163" y="100299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Overview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B55C16-FBF1-4CD8-52AE-CBC74511E519}"/>
              </a:ext>
            </a:extLst>
          </p:cNvPr>
          <p:cNvSpPr txBox="1"/>
          <p:nvPr/>
        </p:nvSpPr>
        <p:spPr>
          <a:xfrm>
            <a:off x="11411896" y="299209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Analysis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3B0F5A-8972-CE69-F3BC-E4CE43FFC3D5}"/>
              </a:ext>
            </a:extLst>
          </p:cNvPr>
          <p:cNvSpPr txBox="1"/>
          <p:nvPr/>
        </p:nvSpPr>
        <p:spPr>
          <a:xfrm>
            <a:off x="11147944" y="444235"/>
            <a:ext cx="120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Strategy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48B597-ABD5-C0AA-6F88-76D5CD3D44C4}"/>
              </a:ext>
            </a:extLst>
          </p:cNvPr>
          <p:cNvSpPr txBox="1"/>
          <p:nvPr/>
        </p:nvSpPr>
        <p:spPr>
          <a:xfrm>
            <a:off x="11464409" y="720280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Impact</a:t>
            </a:r>
          </a:p>
        </p:txBody>
      </p:sp>
    </p:spTree>
    <p:extLst>
      <p:ext uri="{BB962C8B-B14F-4D97-AF65-F5344CB8AC3E}">
        <p14:creationId xmlns:p14="http://schemas.microsoft.com/office/powerpoint/2010/main" val="3796681957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DD5FF8-F6A6-5FF2-582B-4991B0BF57C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185" t="67623" r="2160" b="17026"/>
          <a:stretch/>
        </p:blipFill>
        <p:spPr>
          <a:xfrm>
            <a:off x="4184635" y="3467231"/>
            <a:ext cx="2894180" cy="33907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4ADACE-2EC7-FED7-384A-83BC994F7AE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5921" y="142240"/>
            <a:ext cx="2306320" cy="6577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2A8C83-4723-EACD-9AED-9A81A61769A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83" t="26468" r="26267" b="60394"/>
          <a:stretch/>
        </p:blipFill>
        <p:spPr>
          <a:xfrm>
            <a:off x="114359" y="3980329"/>
            <a:ext cx="3570237" cy="28776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6C8A74-D0F7-2C0D-987C-E32B183C08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39" t="84862" r="3355" b="2639"/>
          <a:stretch/>
        </p:blipFill>
        <p:spPr>
          <a:xfrm>
            <a:off x="437365" y="1190427"/>
            <a:ext cx="5194360" cy="22385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104F66-C367-7B95-343A-CBBE76F2507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4" t="26760" r="51257" b="61035"/>
          <a:stretch/>
        </p:blipFill>
        <p:spPr>
          <a:xfrm>
            <a:off x="7088545" y="799969"/>
            <a:ext cx="4666090" cy="178548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B99979-00CD-CD9B-754C-717A87B3DC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64" t="28055" r="2052" b="61469"/>
          <a:stretch/>
        </p:blipFill>
        <p:spPr>
          <a:xfrm>
            <a:off x="8866935" y="2730315"/>
            <a:ext cx="2251489" cy="15327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DB92BA8-05C0-2E8D-F29F-6DD488E737A0}"/>
              </a:ext>
            </a:extLst>
          </p:cNvPr>
          <p:cNvSpPr txBox="1"/>
          <p:nvPr/>
        </p:nvSpPr>
        <p:spPr>
          <a:xfrm>
            <a:off x="7616283" y="409676"/>
            <a:ext cx="3378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They organize this all. . 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DE52E9-A2E0-5403-73AE-30D72E8CBFBB}"/>
              </a:ext>
            </a:extLst>
          </p:cNvPr>
          <p:cNvSpPr txBox="1"/>
          <p:nvPr/>
        </p:nvSpPr>
        <p:spPr>
          <a:xfrm>
            <a:off x="11319163" y="100299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Overview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C9935C-8E45-0844-B918-4DA1B3B0DF79}"/>
              </a:ext>
            </a:extLst>
          </p:cNvPr>
          <p:cNvSpPr txBox="1"/>
          <p:nvPr/>
        </p:nvSpPr>
        <p:spPr>
          <a:xfrm>
            <a:off x="11411896" y="299209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84CE39-8527-C452-4E35-F6253477D4BE}"/>
              </a:ext>
            </a:extLst>
          </p:cNvPr>
          <p:cNvSpPr txBox="1"/>
          <p:nvPr/>
        </p:nvSpPr>
        <p:spPr>
          <a:xfrm>
            <a:off x="11147944" y="444235"/>
            <a:ext cx="120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Strategy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A324C2-DB46-3BF1-9053-B3BBD870E451}"/>
              </a:ext>
            </a:extLst>
          </p:cNvPr>
          <p:cNvSpPr txBox="1"/>
          <p:nvPr/>
        </p:nvSpPr>
        <p:spPr>
          <a:xfrm>
            <a:off x="11464409" y="720280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Impact</a:t>
            </a:r>
          </a:p>
        </p:txBody>
      </p:sp>
    </p:spTree>
    <p:extLst>
      <p:ext uri="{BB962C8B-B14F-4D97-AF65-F5344CB8AC3E}">
        <p14:creationId xmlns:p14="http://schemas.microsoft.com/office/powerpoint/2010/main" val="418253269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302A95-3B77-FAB0-F84A-A659C77127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0" t="41481" r="1298" b="35672"/>
          <a:stretch/>
        </p:blipFill>
        <p:spPr>
          <a:xfrm>
            <a:off x="204302" y="458332"/>
            <a:ext cx="11847139" cy="416908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Arrow: Curved Up 2">
            <a:extLst>
              <a:ext uri="{FF2B5EF4-FFF2-40B4-BE49-F238E27FC236}">
                <a16:creationId xmlns:a16="http://schemas.microsoft.com/office/drawing/2014/main" id="{07DEE1F7-B68F-D793-F171-7B1150F88472}"/>
              </a:ext>
            </a:extLst>
          </p:cNvPr>
          <p:cNvSpPr/>
          <p:nvPr/>
        </p:nvSpPr>
        <p:spPr>
          <a:xfrm>
            <a:off x="1209964" y="4562760"/>
            <a:ext cx="2281381" cy="711200"/>
          </a:xfrm>
          <a:prstGeom prst="curvedUpArrow">
            <a:avLst/>
          </a:prstGeom>
          <a:solidFill>
            <a:srgbClr val="B301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Arrow: Curved Up 3">
            <a:extLst>
              <a:ext uri="{FF2B5EF4-FFF2-40B4-BE49-F238E27FC236}">
                <a16:creationId xmlns:a16="http://schemas.microsoft.com/office/drawing/2014/main" id="{42D13829-D6F9-B3A3-4B2A-A882287BD712}"/>
              </a:ext>
            </a:extLst>
          </p:cNvPr>
          <p:cNvSpPr/>
          <p:nvPr/>
        </p:nvSpPr>
        <p:spPr>
          <a:xfrm>
            <a:off x="3627581" y="4562760"/>
            <a:ext cx="2281381" cy="711200"/>
          </a:xfrm>
          <a:prstGeom prst="curvedUpArrow">
            <a:avLst/>
          </a:prstGeom>
          <a:solidFill>
            <a:srgbClr val="B301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Arrow: Curved Up 4">
            <a:extLst>
              <a:ext uri="{FF2B5EF4-FFF2-40B4-BE49-F238E27FC236}">
                <a16:creationId xmlns:a16="http://schemas.microsoft.com/office/drawing/2014/main" id="{0A6886CC-9574-ED36-6B5F-357C2C1FE686}"/>
              </a:ext>
            </a:extLst>
          </p:cNvPr>
          <p:cNvSpPr/>
          <p:nvPr/>
        </p:nvSpPr>
        <p:spPr>
          <a:xfrm>
            <a:off x="6045199" y="4562760"/>
            <a:ext cx="2281381" cy="711200"/>
          </a:xfrm>
          <a:prstGeom prst="curvedUpArrow">
            <a:avLst/>
          </a:prstGeom>
          <a:solidFill>
            <a:srgbClr val="B301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Arrow: Curved Up 5">
            <a:extLst>
              <a:ext uri="{FF2B5EF4-FFF2-40B4-BE49-F238E27FC236}">
                <a16:creationId xmlns:a16="http://schemas.microsoft.com/office/drawing/2014/main" id="{37A0B3DC-2A67-D0D9-7938-605C07C629BC}"/>
              </a:ext>
            </a:extLst>
          </p:cNvPr>
          <p:cNvSpPr/>
          <p:nvPr/>
        </p:nvSpPr>
        <p:spPr>
          <a:xfrm>
            <a:off x="8483599" y="4562760"/>
            <a:ext cx="2281381" cy="711200"/>
          </a:xfrm>
          <a:prstGeom prst="curvedUpArrow">
            <a:avLst/>
          </a:prstGeom>
          <a:solidFill>
            <a:srgbClr val="B301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F2DCFCA-F1D9-2789-D750-3479A59EDF6C}"/>
              </a:ext>
            </a:extLst>
          </p:cNvPr>
          <p:cNvGrpSpPr/>
          <p:nvPr/>
        </p:nvGrpSpPr>
        <p:grpSpPr>
          <a:xfrm>
            <a:off x="3063554" y="4179451"/>
            <a:ext cx="814015" cy="895927"/>
            <a:chOff x="2086203" y="3362036"/>
            <a:chExt cx="1384359" cy="1052947"/>
          </a:xfrm>
        </p:grpSpPr>
        <p:sp>
          <p:nvSpPr>
            <p:cNvPr id="7" name="Arrow: Curved Left 6">
              <a:extLst>
                <a:ext uri="{FF2B5EF4-FFF2-40B4-BE49-F238E27FC236}">
                  <a16:creationId xmlns:a16="http://schemas.microsoft.com/office/drawing/2014/main" id="{23865558-914F-DAE7-882C-26AE3AB732A3}"/>
                </a:ext>
              </a:extLst>
            </p:cNvPr>
            <p:cNvSpPr/>
            <p:nvPr/>
          </p:nvSpPr>
          <p:spPr>
            <a:xfrm>
              <a:off x="2835564" y="3429001"/>
              <a:ext cx="634998" cy="985982"/>
            </a:xfrm>
            <a:prstGeom prst="curvedLeftArrow">
              <a:avLst/>
            </a:prstGeom>
            <a:solidFill>
              <a:srgbClr val="006C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Arrow: Curved Left 7">
              <a:extLst>
                <a:ext uri="{FF2B5EF4-FFF2-40B4-BE49-F238E27FC236}">
                  <a16:creationId xmlns:a16="http://schemas.microsoft.com/office/drawing/2014/main" id="{5B6D98DB-A085-7EA1-1653-B6AAC0190B50}"/>
                </a:ext>
              </a:extLst>
            </p:cNvPr>
            <p:cNvSpPr/>
            <p:nvPr/>
          </p:nvSpPr>
          <p:spPr>
            <a:xfrm rot="10800000">
              <a:off x="2086203" y="3362036"/>
              <a:ext cx="634998" cy="985982"/>
            </a:xfrm>
            <a:prstGeom prst="curvedLeftArrow">
              <a:avLst/>
            </a:prstGeom>
            <a:solidFill>
              <a:srgbClr val="006C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DCAB512-3D8F-C815-22DA-9B4F01E767AD}"/>
              </a:ext>
            </a:extLst>
          </p:cNvPr>
          <p:cNvSpPr txBox="1"/>
          <p:nvPr/>
        </p:nvSpPr>
        <p:spPr>
          <a:xfrm>
            <a:off x="2782454" y="5032376"/>
            <a:ext cx="1533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Every week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6C11F66-E5A1-F409-4275-B41EEF2679BA}"/>
              </a:ext>
            </a:extLst>
          </p:cNvPr>
          <p:cNvSpPr/>
          <p:nvPr/>
        </p:nvSpPr>
        <p:spPr>
          <a:xfrm rot="5400000">
            <a:off x="10695462" y="4576634"/>
            <a:ext cx="1425496" cy="78196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OkAuchan - Apps on Google Play">
            <a:extLst>
              <a:ext uri="{FF2B5EF4-FFF2-40B4-BE49-F238E27FC236}">
                <a16:creationId xmlns:a16="http://schemas.microsoft.com/office/drawing/2014/main" id="{4B424C53-5BB1-0781-70B0-FC8FECD22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1547" y="5774331"/>
            <a:ext cx="837648" cy="83764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C304267-2249-3201-56AA-BC1D8C5852BC}"/>
              </a:ext>
            </a:extLst>
          </p:cNvPr>
          <p:cNvSpPr txBox="1"/>
          <p:nvPr/>
        </p:nvSpPr>
        <p:spPr>
          <a:xfrm>
            <a:off x="2755300" y="6242647"/>
            <a:ext cx="826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Bahnschrift" panose="020B0502040204020203" pitchFamily="34" charset="0"/>
              </a:rPr>
              <a:t>OkAuchan</a:t>
            </a:r>
            <a:r>
              <a:rPr lang="en-US" dirty="0">
                <a:latin typeface="Bahnschrift" panose="020B0502040204020203" pitchFamily="34" charset="0"/>
              </a:rPr>
              <a:t> is the official mobile application of the Hungarian Auchan network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8DA8EF-A3F7-BF0D-7679-CC7A8B5F2074}"/>
              </a:ext>
            </a:extLst>
          </p:cNvPr>
          <p:cNvSpPr txBox="1"/>
          <p:nvPr/>
        </p:nvSpPr>
        <p:spPr>
          <a:xfrm>
            <a:off x="10217694" y="53251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Overview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33C6E9-2A09-FD97-C0BF-72291DDB08FE}"/>
              </a:ext>
            </a:extLst>
          </p:cNvPr>
          <p:cNvSpPr txBox="1"/>
          <p:nvPr/>
        </p:nvSpPr>
        <p:spPr>
          <a:xfrm>
            <a:off x="10930681" y="53251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Analysis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0CCCC8-4944-03BD-16CD-E57A01847AB1}"/>
              </a:ext>
            </a:extLst>
          </p:cNvPr>
          <p:cNvSpPr txBox="1"/>
          <p:nvPr/>
        </p:nvSpPr>
        <p:spPr>
          <a:xfrm>
            <a:off x="11149001" y="209151"/>
            <a:ext cx="120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Strategy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E7ABB5-B670-26BB-BFF5-8338F3C7BAEC}"/>
              </a:ext>
            </a:extLst>
          </p:cNvPr>
          <p:cNvSpPr txBox="1"/>
          <p:nvPr/>
        </p:nvSpPr>
        <p:spPr>
          <a:xfrm>
            <a:off x="11561567" y="486150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Impact</a:t>
            </a:r>
          </a:p>
        </p:txBody>
      </p:sp>
    </p:spTree>
    <p:extLst>
      <p:ext uri="{BB962C8B-B14F-4D97-AF65-F5344CB8AC3E}">
        <p14:creationId xmlns:p14="http://schemas.microsoft.com/office/powerpoint/2010/main" val="26130220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0E1D4F-5AEF-0403-B7CC-50668CB6AB9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00" t="9292" r="36785" b="5050"/>
          <a:stretch/>
        </p:blipFill>
        <p:spPr>
          <a:xfrm>
            <a:off x="8220364" y="491836"/>
            <a:ext cx="2909454" cy="58743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3552AC-5B9B-6A4D-8516-C296668EC7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01" t="9293" r="36784" b="5050"/>
          <a:stretch/>
        </p:blipFill>
        <p:spPr>
          <a:xfrm>
            <a:off x="3315855" y="491836"/>
            <a:ext cx="2909454" cy="58743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CA7620-1964-A68A-7051-0A3245D87D6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00" t="9292" r="36785" b="5050"/>
          <a:stretch/>
        </p:blipFill>
        <p:spPr>
          <a:xfrm>
            <a:off x="258618" y="491836"/>
            <a:ext cx="2909454" cy="58743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228F33-F07B-5E20-CA62-1F7E5C3AD2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7805" y="491836"/>
            <a:ext cx="3040544" cy="6091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0FC380B-D814-6F03-4FFF-55ED67F432FF}"/>
              </a:ext>
            </a:extLst>
          </p:cNvPr>
          <p:cNvSpPr txBox="1"/>
          <p:nvPr/>
        </p:nvSpPr>
        <p:spPr>
          <a:xfrm>
            <a:off x="11319163" y="100299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Overview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131782-1D4F-B95B-BCCD-A8AC2AECB494}"/>
              </a:ext>
            </a:extLst>
          </p:cNvPr>
          <p:cNvSpPr txBox="1"/>
          <p:nvPr/>
        </p:nvSpPr>
        <p:spPr>
          <a:xfrm>
            <a:off x="11411896" y="299209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604E11-0A5E-1D6C-8F09-6A8603CB3530}"/>
              </a:ext>
            </a:extLst>
          </p:cNvPr>
          <p:cNvSpPr txBox="1"/>
          <p:nvPr/>
        </p:nvSpPr>
        <p:spPr>
          <a:xfrm>
            <a:off x="11147944" y="444235"/>
            <a:ext cx="120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Strategy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2DF863-C5B6-AE4A-C6E7-60724000F40D}"/>
              </a:ext>
            </a:extLst>
          </p:cNvPr>
          <p:cNvSpPr txBox="1"/>
          <p:nvPr/>
        </p:nvSpPr>
        <p:spPr>
          <a:xfrm>
            <a:off x="11464409" y="720280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Impact</a:t>
            </a:r>
          </a:p>
        </p:txBody>
      </p:sp>
    </p:spTree>
    <p:extLst>
      <p:ext uri="{BB962C8B-B14F-4D97-AF65-F5344CB8AC3E}">
        <p14:creationId xmlns:p14="http://schemas.microsoft.com/office/powerpoint/2010/main" val="2560222878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2A80C36-1D59-72E8-3588-2903EC3BAC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00" t="9292" r="36785" b="5050"/>
          <a:stretch/>
        </p:blipFill>
        <p:spPr>
          <a:xfrm>
            <a:off x="248000" y="-8457"/>
            <a:ext cx="3393292" cy="68512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220164-8301-BADE-3594-E4D9FD6C4B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3451" y="6782"/>
            <a:ext cx="3419820" cy="68512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A96EC5-799C-4C0E-73AA-74F15FCEA68D}"/>
              </a:ext>
            </a:extLst>
          </p:cNvPr>
          <p:cNvSpPr txBox="1"/>
          <p:nvPr/>
        </p:nvSpPr>
        <p:spPr>
          <a:xfrm>
            <a:off x="11319163" y="100299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Overview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01AF33-04D4-78EF-0782-F88E116FBC1D}"/>
              </a:ext>
            </a:extLst>
          </p:cNvPr>
          <p:cNvSpPr txBox="1"/>
          <p:nvPr/>
        </p:nvSpPr>
        <p:spPr>
          <a:xfrm>
            <a:off x="11411896" y="299209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063B36-8E47-60CE-D40F-56AD57CE794D}"/>
              </a:ext>
            </a:extLst>
          </p:cNvPr>
          <p:cNvSpPr txBox="1"/>
          <p:nvPr/>
        </p:nvSpPr>
        <p:spPr>
          <a:xfrm>
            <a:off x="11147944" y="444235"/>
            <a:ext cx="120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Strategy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6A8FBC-FBCC-196B-8825-9AB1DC73572F}"/>
              </a:ext>
            </a:extLst>
          </p:cNvPr>
          <p:cNvSpPr txBox="1"/>
          <p:nvPr/>
        </p:nvSpPr>
        <p:spPr>
          <a:xfrm>
            <a:off x="11464409" y="720280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Impact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9FED581F-7606-5B67-3C06-D208ABB7C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3054" y="940097"/>
            <a:ext cx="3664505" cy="42043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solidFill>
                  <a:srgbClr val="C00000"/>
                </a:solidFill>
              </a:rPr>
              <a:t>New “Events &amp; Stories” Section Added on Home Screen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solidFill>
                  <a:srgbClr val="C00000"/>
                </a:solidFill>
              </a:rPr>
              <a:t>Event Cards with Visual Scheduling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solidFill>
                  <a:srgbClr val="C00000"/>
                </a:solidFill>
              </a:rPr>
              <a:t>“</a:t>
            </a:r>
            <a:r>
              <a:rPr lang="en-US" altLang="en-US" b="1" dirty="0" err="1">
                <a:solidFill>
                  <a:srgbClr val="C00000"/>
                </a:solidFill>
              </a:rPr>
              <a:t>Hírek</a:t>
            </a:r>
            <a:r>
              <a:rPr lang="en-US" altLang="en-US" b="1" dirty="0">
                <a:solidFill>
                  <a:srgbClr val="C00000"/>
                </a:solidFill>
              </a:rPr>
              <a:t> &amp; </a:t>
            </a:r>
            <a:r>
              <a:rPr lang="en-US" altLang="en-US" b="1" dirty="0" err="1">
                <a:solidFill>
                  <a:srgbClr val="C00000"/>
                </a:solidFill>
              </a:rPr>
              <a:t>Storyk</a:t>
            </a:r>
            <a:r>
              <a:rPr lang="en-US" altLang="en-US" b="1" dirty="0">
                <a:solidFill>
                  <a:srgbClr val="C00000"/>
                </a:solidFill>
              </a:rPr>
              <a:t>” (News &amp; Stories) Section Introduced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/>
              <a:t>Stronger Content Hierarchy on Home Screen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/>
              <a:t>More Engaging Visual Browsing Experience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/>
              <a:t>Improved User Engagement Flow </a:t>
            </a:r>
          </a:p>
        </p:txBody>
      </p:sp>
    </p:spTree>
    <p:extLst>
      <p:ext uri="{BB962C8B-B14F-4D97-AF65-F5344CB8AC3E}">
        <p14:creationId xmlns:p14="http://schemas.microsoft.com/office/powerpoint/2010/main" val="1278708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302A95-3B77-FAB0-F84A-A659C77127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0" t="41481" r="1298" b="35672"/>
          <a:stretch/>
        </p:blipFill>
        <p:spPr>
          <a:xfrm>
            <a:off x="204302" y="458332"/>
            <a:ext cx="11847139" cy="416908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Arrow: Curved Up 2">
            <a:extLst>
              <a:ext uri="{FF2B5EF4-FFF2-40B4-BE49-F238E27FC236}">
                <a16:creationId xmlns:a16="http://schemas.microsoft.com/office/drawing/2014/main" id="{07DEE1F7-B68F-D793-F171-7B1150F88472}"/>
              </a:ext>
            </a:extLst>
          </p:cNvPr>
          <p:cNvSpPr/>
          <p:nvPr/>
        </p:nvSpPr>
        <p:spPr>
          <a:xfrm>
            <a:off x="1209964" y="4562760"/>
            <a:ext cx="2281381" cy="711200"/>
          </a:xfrm>
          <a:prstGeom prst="curvedUpArrow">
            <a:avLst/>
          </a:prstGeom>
          <a:solidFill>
            <a:srgbClr val="B301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Arrow: Curved Up 3">
            <a:extLst>
              <a:ext uri="{FF2B5EF4-FFF2-40B4-BE49-F238E27FC236}">
                <a16:creationId xmlns:a16="http://schemas.microsoft.com/office/drawing/2014/main" id="{42D13829-D6F9-B3A3-4B2A-A882287BD712}"/>
              </a:ext>
            </a:extLst>
          </p:cNvPr>
          <p:cNvSpPr/>
          <p:nvPr/>
        </p:nvSpPr>
        <p:spPr>
          <a:xfrm>
            <a:off x="3627581" y="4562760"/>
            <a:ext cx="2281381" cy="711200"/>
          </a:xfrm>
          <a:prstGeom prst="curvedUpArrow">
            <a:avLst/>
          </a:prstGeom>
          <a:solidFill>
            <a:srgbClr val="B301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Arrow: Curved Up 4">
            <a:extLst>
              <a:ext uri="{FF2B5EF4-FFF2-40B4-BE49-F238E27FC236}">
                <a16:creationId xmlns:a16="http://schemas.microsoft.com/office/drawing/2014/main" id="{0A6886CC-9574-ED36-6B5F-357C2C1FE686}"/>
              </a:ext>
            </a:extLst>
          </p:cNvPr>
          <p:cNvSpPr/>
          <p:nvPr/>
        </p:nvSpPr>
        <p:spPr>
          <a:xfrm>
            <a:off x="6045199" y="4562760"/>
            <a:ext cx="2281381" cy="711200"/>
          </a:xfrm>
          <a:prstGeom prst="curvedUpArrow">
            <a:avLst/>
          </a:prstGeom>
          <a:solidFill>
            <a:srgbClr val="B301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Arrow: Curved Up 5">
            <a:extLst>
              <a:ext uri="{FF2B5EF4-FFF2-40B4-BE49-F238E27FC236}">
                <a16:creationId xmlns:a16="http://schemas.microsoft.com/office/drawing/2014/main" id="{37A0B3DC-2A67-D0D9-7938-605C07C629BC}"/>
              </a:ext>
            </a:extLst>
          </p:cNvPr>
          <p:cNvSpPr/>
          <p:nvPr/>
        </p:nvSpPr>
        <p:spPr>
          <a:xfrm>
            <a:off x="8483599" y="4562760"/>
            <a:ext cx="2281381" cy="711200"/>
          </a:xfrm>
          <a:prstGeom prst="curvedUpArrow">
            <a:avLst/>
          </a:prstGeom>
          <a:solidFill>
            <a:srgbClr val="B301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F2DCFCA-F1D9-2789-D750-3479A59EDF6C}"/>
              </a:ext>
            </a:extLst>
          </p:cNvPr>
          <p:cNvGrpSpPr/>
          <p:nvPr/>
        </p:nvGrpSpPr>
        <p:grpSpPr>
          <a:xfrm>
            <a:off x="3063554" y="4179451"/>
            <a:ext cx="814015" cy="895927"/>
            <a:chOff x="2086203" y="3362036"/>
            <a:chExt cx="1384359" cy="1052947"/>
          </a:xfrm>
        </p:grpSpPr>
        <p:sp>
          <p:nvSpPr>
            <p:cNvPr id="7" name="Arrow: Curved Left 6">
              <a:extLst>
                <a:ext uri="{FF2B5EF4-FFF2-40B4-BE49-F238E27FC236}">
                  <a16:creationId xmlns:a16="http://schemas.microsoft.com/office/drawing/2014/main" id="{23865558-914F-DAE7-882C-26AE3AB732A3}"/>
                </a:ext>
              </a:extLst>
            </p:cNvPr>
            <p:cNvSpPr/>
            <p:nvPr/>
          </p:nvSpPr>
          <p:spPr>
            <a:xfrm>
              <a:off x="2835564" y="3429001"/>
              <a:ext cx="634998" cy="985982"/>
            </a:xfrm>
            <a:prstGeom prst="curvedLeftArrow">
              <a:avLst/>
            </a:prstGeom>
            <a:solidFill>
              <a:srgbClr val="006C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Arrow: Curved Left 7">
              <a:extLst>
                <a:ext uri="{FF2B5EF4-FFF2-40B4-BE49-F238E27FC236}">
                  <a16:creationId xmlns:a16="http://schemas.microsoft.com/office/drawing/2014/main" id="{5B6D98DB-A085-7EA1-1653-B6AAC0190B50}"/>
                </a:ext>
              </a:extLst>
            </p:cNvPr>
            <p:cNvSpPr/>
            <p:nvPr/>
          </p:nvSpPr>
          <p:spPr>
            <a:xfrm rot="10800000">
              <a:off x="2086203" y="3362036"/>
              <a:ext cx="634998" cy="985982"/>
            </a:xfrm>
            <a:prstGeom prst="curvedLeftArrow">
              <a:avLst/>
            </a:prstGeom>
            <a:solidFill>
              <a:srgbClr val="006C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DCAB512-3D8F-C815-22DA-9B4F01E767AD}"/>
              </a:ext>
            </a:extLst>
          </p:cNvPr>
          <p:cNvSpPr txBox="1"/>
          <p:nvPr/>
        </p:nvSpPr>
        <p:spPr>
          <a:xfrm>
            <a:off x="2782454" y="5032376"/>
            <a:ext cx="1533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Every week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6C11F66-E5A1-F409-4275-B41EEF2679BA}"/>
              </a:ext>
            </a:extLst>
          </p:cNvPr>
          <p:cNvSpPr/>
          <p:nvPr/>
        </p:nvSpPr>
        <p:spPr>
          <a:xfrm rot="5400000">
            <a:off x="10695462" y="4576634"/>
            <a:ext cx="1425496" cy="78196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OkAuchan - Apps on Google Play">
            <a:extLst>
              <a:ext uri="{FF2B5EF4-FFF2-40B4-BE49-F238E27FC236}">
                <a16:creationId xmlns:a16="http://schemas.microsoft.com/office/drawing/2014/main" id="{4B424C53-5BB1-0781-70B0-FC8FECD22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1547" y="5774331"/>
            <a:ext cx="837648" cy="83764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C304267-2249-3201-56AA-BC1D8C5852BC}"/>
              </a:ext>
            </a:extLst>
          </p:cNvPr>
          <p:cNvSpPr txBox="1"/>
          <p:nvPr/>
        </p:nvSpPr>
        <p:spPr>
          <a:xfrm>
            <a:off x="2755300" y="6242647"/>
            <a:ext cx="826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Bahnschrift" panose="020B0502040204020203" pitchFamily="34" charset="0"/>
              </a:rPr>
              <a:t>OkAuchan</a:t>
            </a:r>
            <a:r>
              <a:rPr lang="en-US" dirty="0">
                <a:latin typeface="Bahnschrift" panose="020B0502040204020203" pitchFamily="34" charset="0"/>
              </a:rPr>
              <a:t> is the official mobile application of the Hungarian Auchan network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8DA8EF-A3F7-BF0D-7679-CC7A8B5F2074}"/>
              </a:ext>
            </a:extLst>
          </p:cNvPr>
          <p:cNvSpPr txBox="1"/>
          <p:nvPr/>
        </p:nvSpPr>
        <p:spPr>
          <a:xfrm>
            <a:off x="10217694" y="53251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Overview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33C6E9-2A09-FD97-C0BF-72291DDB08FE}"/>
              </a:ext>
            </a:extLst>
          </p:cNvPr>
          <p:cNvSpPr txBox="1"/>
          <p:nvPr/>
        </p:nvSpPr>
        <p:spPr>
          <a:xfrm>
            <a:off x="10930681" y="53251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Analysis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0CCCC8-4944-03BD-16CD-E57A01847AB1}"/>
              </a:ext>
            </a:extLst>
          </p:cNvPr>
          <p:cNvSpPr txBox="1"/>
          <p:nvPr/>
        </p:nvSpPr>
        <p:spPr>
          <a:xfrm>
            <a:off x="11149001" y="209151"/>
            <a:ext cx="120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Strategy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E7ABB5-B670-26BB-BFF5-8338F3C7BAEC}"/>
              </a:ext>
            </a:extLst>
          </p:cNvPr>
          <p:cNvSpPr txBox="1"/>
          <p:nvPr/>
        </p:nvSpPr>
        <p:spPr>
          <a:xfrm>
            <a:off x="11561567" y="486150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Impact</a:t>
            </a:r>
          </a:p>
        </p:txBody>
      </p:sp>
    </p:spTree>
    <p:extLst>
      <p:ext uri="{BB962C8B-B14F-4D97-AF65-F5344CB8AC3E}">
        <p14:creationId xmlns:p14="http://schemas.microsoft.com/office/powerpoint/2010/main" val="4031067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74C75-CDA9-F3EC-0B82-C10463074BE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0" t="64358" r="22568" b="16296"/>
          <a:stretch/>
        </p:blipFill>
        <p:spPr>
          <a:xfrm>
            <a:off x="387394" y="1260764"/>
            <a:ext cx="11382398" cy="433647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3FA708-DE6C-27AD-3CD0-33A29A33B7CC}"/>
              </a:ext>
            </a:extLst>
          </p:cNvPr>
          <p:cNvSpPr txBox="1"/>
          <p:nvPr/>
        </p:nvSpPr>
        <p:spPr>
          <a:xfrm>
            <a:off x="11319163" y="100299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4FC458-C4DA-A212-D0E3-FC6D299DC081}"/>
              </a:ext>
            </a:extLst>
          </p:cNvPr>
          <p:cNvSpPr txBox="1"/>
          <p:nvPr/>
        </p:nvSpPr>
        <p:spPr>
          <a:xfrm>
            <a:off x="11411896" y="299209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8D2478-182A-887D-E196-3AB10EC9817B}"/>
              </a:ext>
            </a:extLst>
          </p:cNvPr>
          <p:cNvSpPr txBox="1"/>
          <p:nvPr/>
        </p:nvSpPr>
        <p:spPr>
          <a:xfrm>
            <a:off x="11147944" y="444235"/>
            <a:ext cx="120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Strategy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D9EF7B-3372-928C-61DF-8AEE0008A918}"/>
              </a:ext>
            </a:extLst>
          </p:cNvPr>
          <p:cNvSpPr txBox="1"/>
          <p:nvPr/>
        </p:nvSpPr>
        <p:spPr>
          <a:xfrm>
            <a:off x="11464409" y="720280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Impact</a:t>
            </a:r>
          </a:p>
        </p:txBody>
      </p:sp>
    </p:spTree>
    <p:extLst>
      <p:ext uri="{BB962C8B-B14F-4D97-AF65-F5344CB8AC3E}">
        <p14:creationId xmlns:p14="http://schemas.microsoft.com/office/powerpoint/2010/main" val="1181970640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98AF75-29DF-42C5-A47F-74D42047E588}"/>
              </a:ext>
            </a:extLst>
          </p:cNvPr>
          <p:cNvSpPr txBox="1"/>
          <p:nvPr/>
        </p:nvSpPr>
        <p:spPr>
          <a:xfrm>
            <a:off x="775049" y="624528"/>
            <a:ext cx="12683066" cy="5278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b="1" dirty="0">
                <a:latin typeface="Bahnschrift" panose="020B0502040204020203" pitchFamily="34" charset="0"/>
              </a:rPr>
              <a:t>And now.</a:t>
            </a:r>
          </a:p>
          <a:p>
            <a:r>
              <a:rPr lang="en-US" sz="19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IMPACT</a:t>
            </a:r>
            <a:endParaRPr lang="en-US" sz="1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F3C163-9A2B-18BC-33B9-E303850BC401}"/>
              </a:ext>
            </a:extLst>
          </p:cNvPr>
          <p:cNvSpPr txBox="1"/>
          <p:nvPr/>
        </p:nvSpPr>
        <p:spPr>
          <a:xfrm>
            <a:off x="11319163" y="100299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2FD2D3-59E7-78E5-7213-EA85CDFEE9ED}"/>
              </a:ext>
            </a:extLst>
          </p:cNvPr>
          <p:cNvSpPr txBox="1"/>
          <p:nvPr/>
        </p:nvSpPr>
        <p:spPr>
          <a:xfrm>
            <a:off x="11411896" y="299209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FACFB1-E5F8-2295-D3AC-914150C12ABE}"/>
              </a:ext>
            </a:extLst>
          </p:cNvPr>
          <p:cNvSpPr txBox="1"/>
          <p:nvPr/>
        </p:nvSpPr>
        <p:spPr>
          <a:xfrm>
            <a:off x="11147944" y="444235"/>
            <a:ext cx="120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Strategy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A3DA9F-2C33-E64C-5E76-89D7184F442B}"/>
              </a:ext>
            </a:extLst>
          </p:cNvPr>
          <p:cNvSpPr txBox="1"/>
          <p:nvPr/>
        </p:nvSpPr>
        <p:spPr>
          <a:xfrm>
            <a:off x="11464409" y="720280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Impact</a:t>
            </a:r>
          </a:p>
        </p:txBody>
      </p:sp>
    </p:spTree>
    <p:extLst>
      <p:ext uri="{BB962C8B-B14F-4D97-AF65-F5344CB8AC3E}">
        <p14:creationId xmlns:p14="http://schemas.microsoft.com/office/powerpoint/2010/main" val="1962498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F3C163-9A2B-18BC-33B9-E303850BC401}"/>
              </a:ext>
            </a:extLst>
          </p:cNvPr>
          <p:cNvSpPr txBox="1"/>
          <p:nvPr/>
        </p:nvSpPr>
        <p:spPr>
          <a:xfrm>
            <a:off x="11319163" y="100299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2FD2D3-59E7-78E5-7213-EA85CDFEE9ED}"/>
              </a:ext>
            </a:extLst>
          </p:cNvPr>
          <p:cNvSpPr txBox="1"/>
          <p:nvPr/>
        </p:nvSpPr>
        <p:spPr>
          <a:xfrm>
            <a:off x="11411896" y="299209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FACFB1-E5F8-2295-D3AC-914150C12ABE}"/>
              </a:ext>
            </a:extLst>
          </p:cNvPr>
          <p:cNvSpPr txBox="1"/>
          <p:nvPr/>
        </p:nvSpPr>
        <p:spPr>
          <a:xfrm>
            <a:off x="11411895" y="502614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Strategy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A3DA9F-2C33-E64C-5E76-89D7184F442B}"/>
              </a:ext>
            </a:extLst>
          </p:cNvPr>
          <p:cNvSpPr txBox="1"/>
          <p:nvPr/>
        </p:nvSpPr>
        <p:spPr>
          <a:xfrm>
            <a:off x="11289045" y="653639"/>
            <a:ext cx="120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Impact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E3DB052-0366-A10E-6D05-40555BC163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30086"/>
              </p:ext>
            </p:extLst>
          </p:nvPr>
        </p:nvGraphicFramePr>
        <p:xfrm>
          <a:off x="617806" y="779612"/>
          <a:ext cx="9105314" cy="5428148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517553">
                  <a:extLst>
                    <a:ext uri="{9D8B030D-6E8A-4147-A177-3AD203B41FA5}">
                      <a16:colId xmlns:a16="http://schemas.microsoft.com/office/drawing/2014/main" val="4152929326"/>
                    </a:ext>
                  </a:extLst>
                </a:gridCol>
                <a:gridCol w="1114746">
                  <a:extLst>
                    <a:ext uri="{9D8B030D-6E8A-4147-A177-3AD203B41FA5}">
                      <a16:colId xmlns:a16="http://schemas.microsoft.com/office/drawing/2014/main" val="925003877"/>
                    </a:ext>
                  </a:extLst>
                </a:gridCol>
                <a:gridCol w="1041625">
                  <a:extLst>
                    <a:ext uri="{9D8B030D-6E8A-4147-A177-3AD203B41FA5}">
                      <a16:colId xmlns:a16="http://schemas.microsoft.com/office/drawing/2014/main" val="2689449502"/>
                    </a:ext>
                  </a:extLst>
                </a:gridCol>
                <a:gridCol w="1778904">
                  <a:extLst>
                    <a:ext uri="{9D8B030D-6E8A-4147-A177-3AD203B41FA5}">
                      <a16:colId xmlns:a16="http://schemas.microsoft.com/office/drawing/2014/main" val="3796054007"/>
                    </a:ext>
                  </a:extLst>
                </a:gridCol>
                <a:gridCol w="3652486">
                  <a:extLst>
                    <a:ext uri="{9D8B030D-6E8A-4147-A177-3AD203B41FA5}">
                      <a16:colId xmlns:a16="http://schemas.microsoft.com/office/drawing/2014/main" val="473901895"/>
                    </a:ext>
                  </a:extLst>
                </a:gridCol>
              </a:tblGrid>
              <a:tr h="3949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Customer Personas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39" marR="5939" marT="593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 (%)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39" marR="5939" marT="593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39" marR="5939" marT="593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motivation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39" marR="5939" marT="593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impact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39" marR="5939" marT="5939" marB="0" anchor="ctr"/>
                </a:tc>
                <a:extLst>
                  <a:ext uri="{0D108BD9-81ED-4DB2-BD59-A6C34878D82A}">
                    <a16:rowId xmlns:a16="http://schemas.microsoft.com/office/drawing/2014/main" val="3150456439"/>
                  </a:ext>
                </a:extLst>
              </a:tr>
              <a:tr h="9892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Bargain-Hunter </a:t>
                      </a:r>
                      <a:r>
                        <a:rPr lang="en-US" sz="800" u="none" strike="noStrike" dirty="0" err="1">
                          <a:effectLst/>
                        </a:rPr>
                        <a:t>Ágota</a:t>
                      </a:r>
                      <a:endParaRPr lang="hy-AM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39" marR="5939" marT="593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24%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39" marR="5939" marT="593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Baby Boomers / Gen X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39" marR="5939" marT="593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Consumers are highly sensitive to price changes and are strongly influenced by discounts and promotions.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39" marR="5939" marT="593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 Need to ensure low prices and provide attractive promotions and discounts.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39" marR="5939" marT="5939" marB="0" anchor="ctr"/>
                </a:tc>
                <a:extLst>
                  <a:ext uri="{0D108BD9-81ED-4DB2-BD59-A6C34878D82A}">
                    <a16:rowId xmlns:a16="http://schemas.microsoft.com/office/drawing/2014/main" val="585006831"/>
                  </a:ext>
                </a:extLst>
              </a:tr>
              <a:tr h="7931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Experience-Seeker </a:t>
                      </a:r>
                      <a:r>
                        <a:rPr lang="en-US" sz="800" u="none" strike="noStrike" dirty="0" err="1">
                          <a:effectLst/>
                        </a:rPr>
                        <a:t>Éva</a:t>
                      </a:r>
                      <a:r>
                        <a:rPr lang="en-US" sz="800" u="none" strike="noStrike" dirty="0">
                          <a:effectLst/>
                        </a:rPr>
                        <a:t> </a:t>
                      </a:r>
                      <a:endParaRPr lang="hy-AM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39" marR="5939" marT="593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21%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39" marR="5939" marT="593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Millennials / Gen X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39" marR="5939" marT="593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People like to try new products; shoppers are attracted by variety and new offerings.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39" marR="5939" marT="593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Hypermarket trend: development of large stores (around 2000–4000 m²) to meet consumer demand.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39" marR="5939" marT="5939" marB="0" anchor="ctr"/>
                </a:tc>
                <a:extLst>
                  <a:ext uri="{0D108BD9-81ED-4DB2-BD59-A6C34878D82A}">
                    <a16:rowId xmlns:a16="http://schemas.microsoft.com/office/drawing/2014/main" val="2395668231"/>
                  </a:ext>
                </a:extLst>
              </a:tr>
              <a:tr h="9257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Local Helga (</a:t>
                      </a:r>
                      <a:r>
                        <a:rPr lang="hy-AM" sz="800" u="none" strike="noStrike" dirty="0">
                          <a:effectLst/>
                        </a:rPr>
                        <a:t>Տեղականը</a:t>
                      </a:r>
                      <a:endParaRPr lang="hy-AM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39" marR="5939" marT="593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20%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39" marR="5939" marT="593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Gen X / Baby Boomers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39" marR="5939" marT="593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Consumers value socially responsible products, waste reduction, and ecological awareness.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39" marR="5939" marT="593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Increase availability of local producers and introduce a Farmer’s Market concept.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39" marR="5939" marT="5939" marB="0" anchor="ctr"/>
                </a:tc>
                <a:extLst>
                  <a:ext uri="{0D108BD9-81ED-4DB2-BD59-A6C34878D82A}">
                    <a16:rowId xmlns:a16="http://schemas.microsoft.com/office/drawing/2014/main" val="2218041779"/>
                  </a:ext>
                </a:extLst>
              </a:tr>
              <a:tr h="738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Conscious Tibor/Tekla</a:t>
                      </a:r>
                      <a:endParaRPr lang="hy-AM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39" marR="5939" marT="593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16%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39" marR="5939" marT="593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Millennials / Gen Z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39" marR="5939" marT="593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Focus on healthy lifestyle, Bio/Organic and sustainable products.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39" marR="5939" marT="593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 Hypermarket trend: creation of dedicated bio/organic and healthy food sections.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39" marR="5939" marT="5939" marB="0" anchor="ctr"/>
                </a:tc>
                <a:extLst>
                  <a:ext uri="{0D108BD9-81ED-4DB2-BD59-A6C34878D82A}">
                    <a16:rowId xmlns:a16="http://schemas.microsoft.com/office/drawing/2014/main" val="2546592562"/>
                  </a:ext>
                </a:extLst>
              </a:tr>
              <a:tr h="7931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Get-it-Done </a:t>
                      </a:r>
                      <a:r>
                        <a:rPr lang="en-US" sz="800" u="none" strike="noStrike" dirty="0" err="1">
                          <a:effectLst/>
                        </a:rPr>
                        <a:t>Lóri</a:t>
                      </a:r>
                      <a:r>
                        <a:rPr lang="en-US" sz="800" u="none" strike="noStrike" dirty="0">
                          <a:effectLst/>
                        </a:rPr>
                        <a:t> (</a:t>
                      </a:r>
                      <a:r>
                        <a:rPr lang="hy-AM" sz="800" u="none" strike="noStrike" dirty="0">
                          <a:effectLst/>
                        </a:rPr>
                        <a:t>Արագ</a:t>
                      </a:r>
                      <a:endParaRPr lang="hy-AM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39" marR="5939" marT="593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16%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39" marR="5939" marT="593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Gen Z / Millennials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39" marR="5939" marT="593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Shopping is seen as a leisure activity; people also shop at discount stores such as Lidl/Aldi.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39" marR="5939" marT="593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Development of loyalty programs and self-service technologies (apps, kiosks, self-checkout).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39" marR="5939" marT="5939" marB="0" anchor="ctr"/>
                </a:tc>
                <a:extLst>
                  <a:ext uri="{0D108BD9-81ED-4DB2-BD59-A6C34878D82A}">
                    <a16:rowId xmlns:a16="http://schemas.microsoft.com/office/drawing/2014/main" val="103357252"/>
                  </a:ext>
                </a:extLst>
              </a:tr>
              <a:tr h="7931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Digital </a:t>
                      </a:r>
                      <a:r>
                        <a:rPr lang="en-US" sz="800" u="none" strike="noStrike" dirty="0" err="1">
                          <a:effectLst/>
                        </a:rPr>
                        <a:t>Borka</a:t>
                      </a:r>
                      <a:r>
                        <a:rPr lang="en-US" sz="800" u="none" strike="noStrike" dirty="0">
                          <a:effectLst/>
                        </a:rPr>
                        <a:t> 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39" marR="5939" marT="593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2%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39" marR="5939" marT="593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Gen Z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39" marR="5939" marT="593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Consumers are tech-savvy, use apps, and compare prices through digital platforms and online tools.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39" marR="5939" marT="593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Creation of a digital ecosystem and omnichannel integration (e.g., Auchan GO-type solutions).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39" marR="5939" marT="5939" marB="0" anchor="ctr"/>
                </a:tc>
                <a:extLst>
                  <a:ext uri="{0D108BD9-81ED-4DB2-BD59-A6C34878D82A}">
                    <a16:rowId xmlns:a16="http://schemas.microsoft.com/office/drawing/2014/main" val="3413346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8987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8864269-D04F-7BA6-3FDC-BEE58B3EE9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796845"/>
              </p:ext>
            </p:extLst>
          </p:nvPr>
        </p:nvGraphicFramePr>
        <p:xfrm>
          <a:off x="4501567" y="238798"/>
          <a:ext cx="6390504" cy="20501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36155">
                  <a:extLst>
                    <a:ext uri="{9D8B030D-6E8A-4147-A177-3AD203B41FA5}">
                      <a16:colId xmlns:a16="http://schemas.microsoft.com/office/drawing/2014/main" val="4246954763"/>
                    </a:ext>
                  </a:extLst>
                </a:gridCol>
                <a:gridCol w="1029248">
                  <a:extLst>
                    <a:ext uri="{9D8B030D-6E8A-4147-A177-3AD203B41FA5}">
                      <a16:colId xmlns:a16="http://schemas.microsoft.com/office/drawing/2014/main" val="883811992"/>
                    </a:ext>
                  </a:extLst>
                </a:gridCol>
                <a:gridCol w="420630">
                  <a:extLst>
                    <a:ext uri="{9D8B030D-6E8A-4147-A177-3AD203B41FA5}">
                      <a16:colId xmlns:a16="http://schemas.microsoft.com/office/drawing/2014/main" val="877193753"/>
                    </a:ext>
                  </a:extLst>
                </a:gridCol>
                <a:gridCol w="765742">
                  <a:extLst>
                    <a:ext uri="{9D8B030D-6E8A-4147-A177-3AD203B41FA5}">
                      <a16:colId xmlns:a16="http://schemas.microsoft.com/office/drawing/2014/main" val="1490547960"/>
                    </a:ext>
                  </a:extLst>
                </a:gridCol>
                <a:gridCol w="483002">
                  <a:extLst>
                    <a:ext uri="{9D8B030D-6E8A-4147-A177-3AD203B41FA5}">
                      <a16:colId xmlns:a16="http://schemas.microsoft.com/office/drawing/2014/main" val="1363750746"/>
                    </a:ext>
                  </a:extLst>
                </a:gridCol>
                <a:gridCol w="2155727">
                  <a:extLst>
                    <a:ext uri="{9D8B030D-6E8A-4147-A177-3AD203B41FA5}">
                      <a16:colId xmlns:a16="http://schemas.microsoft.com/office/drawing/2014/main" val="2884385886"/>
                    </a:ext>
                  </a:extLst>
                </a:gridCol>
              </a:tblGrid>
              <a:tr h="283808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Bargain-Hunter Ágota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1 774 000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7,0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5,0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7,3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532 200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extLst>
                  <a:ext uri="{0D108BD9-81ED-4DB2-BD59-A6C34878D82A}">
                    <a16:rowId xmlns:a16="http://schemas.microsoft.com/office/drawing/2014/main" val="1550589137"/>
                  </a:ext>
                </a:extLst>
              </a:tr>
              <a:tr h="283808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Experience-Seeker Éva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1 537 000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4,0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50,0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6,0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3 074 000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extLst>
                  <a:ext uri="{0D108BD9-81ED-4DB2-BD59-A6C34878D82A}">
                    <a16:rowId xmlns:a16="http://schemas.microsoft.com/office/drawing/2014/main" val="2603462483"/>
                  </a:ext>
                </a:extLst>
              </a:tr>
              <a:tr h="283808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Local Helga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1 504 000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12,0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10,0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13,2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1 804 800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extLst>
                  <a:ext uri="{0D108BD9-81ED-4DB2-BD59-A6C34878D82A}">
                    <a16:rowId xmlns:a16="http://schemas.microsoft.com/office/drawing/2014/main" val="2226508656"/>
                  </a:ext>
                </a:extLst>
              </a:tr>
              <a:tr h="283808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Conscious Tibor/Tekla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1 209 000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6,0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30,0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7,8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2 176 200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extLst>
                  <a:ext uri="{0D108BD9-81ED-4DB2-BD59-A6C34878D82A}">
                    <a16:rowId xmlns:a16="http://schemas.microsoft.com/office/drawing/2014/main" val="1725325515"/>
                  </a:ext>
                </a:extLst>
              </a:tr>
              <a:tr h="283808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Get-it-Done Lóri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1 191 000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3,0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20,0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3,6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714 600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extLst>
                  <a:ext uri="{0D108BD9-81ED-4DB2-BD59-A6C34878D82A}">
                    <a16:rowId xmlns:a16="http://schemas.microsoft.com/office/drawing/2014/main" val="3728380221"/>
                  </a:ext>
                </a:extLst>
              </a:tr>
              <a:tr h="283808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Digital Borka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176 000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5,0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40,0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5,4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70 400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extLst>
                  <a:ext uri="{0D108BD9-81ED-4DB2-BD59-A6C34878D82A}">
                    <a16:rowId xmlns:a16="http://schemas.microsoft.com/office/drawing/2014/main" val="1592394902"/>
                  </a:ext>
                </a:extLst>
              </a:tr>
              <a:tr h="347347">
                <a:tc>
                  <a:txBody>
                    <a:bodyPr/>
                    <a:lstStyle/>
                    <a:p>
                      <a:pPr algn="l" fontAlgn="b"/>
                      <a:endParaRPr lang="hy-AM" sz="1050" b="1" i="0" u="none" strike="noStrike" dirty="0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7 391 000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 dirty="0">
                          <a:effectLst/>
                        </a:rPr>
                        <a:t>8 372 200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Sylfaen" panose="010A0502050306030303" pitchFamily="18" charset="0"/>
                      </a:endParaRPr>
                    </a:p>
                  </a:txBody>
                  <a:tcPr marL="5361" marR="5361" marT="5361" marB="0" anchor="b"/>
                </a:tc>
                <a:extLst>
                  <a:ext uri="{0D108BD9-81ED-4DB2-BD59-A6C34878D82A}">
                    <a16:rowId xmlns:a16="http://schemas.microsoft.com/office/drawing/2014/main" val="278394800"/>
                  </a:ext>
                </a:extLst>
              </a:tr>
            </a:tbl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9B3A015-38C7-25B1-575E-65DA20A428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592133"/>
              </p:ext>
            </p:extLst>
          </p:nvPr>
        </p:nvGraphicFramePr>
        <p:xfrm>
          <a:off x="234123" y="2814319"/>
          <a:ext cx="5861877" cy="36548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EEC4F84-97E4-EB8C-0507-5A46ACC2C571}"/>
              </a:ext>
            </a:extLst>
          </p:cNvPr>
          <p:cNvSpPr txBox="1"/>
          <p:nvPr/>
        </p:nvSpPr>
        <p:spPr>
          <a:xfrm>
            <a:off x="11319163" y="100299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DE59BB-8097-A101-90CA-23DFD22A35EF}"/>
              </a:ext>
            </a:extLst>
          </p:cNvPr>
          <p:cNvSpPr txBox="1"/>
          <p:nvPr/>
        </p:nvSpPr>
        <p:spPr>
          <a:xfrm>
            <a:off x="11411896" y="299209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56A212-A4C6-B2CB-1919-2EA33477D925}"/>
              </a:ext>
            </a:extLst>
          </p:cNvPr>
          <p:cNvSpPr txBox="1"/>
          <p:nvPr/>
        </p:nvSpPr>
        <p:spPr>
          <a:xfrm>
            <a:off x="11411895" y="502614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Strategy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8E9CA9-BDC3-2A04-0E43-ADD7B669297E}"/>
              </a:ext>
            </a:extLst>
          </p:cNvPr>
          <p:cNvSpPr txBox="1"/>
          <p:nvPr/>
        </p:nvSpPr>
        <p:spPr>
          <a:xfrm>
            <a:off x="11289045" y="653639"/>
            <a:ext cx="120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Impact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0B5B3E-655B-69AB-1DD5-2B836E891CAF}"/>
              </a:ext>
            </a:extLst>
          </p:cNvPr>
          <p:cNvSpPr/>
          <p:nvPr/>
        </p:nvSpPr>
        <p:spPr>
          <a:xfrm>
            <a:off x="0" y="249388"/>
            <a:ext cx="3394989" cy="65363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D38E29-465F-E6CF-8A69-CE46A4C6DD58}"/>
              </a:ext>
            </a:extLst>
          </p:cNvPr>
          <p:cNvSpPr/>
          <p:nvPr/>
        </p:nvSpPr>
        <p:spPr>
          <a:xfrm>
            <a:off x="7563775" y="2565334"/>
            <a:ext cx="4628225" cy="65363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50A3BA-0777-DD1B-4B53-809393515E68}"/>
              </a:ext>
            </a:extLst>
          </p:cNvPr>
          <p:cNvSpPr/>
          <p:nvPr/>
        </p:nvSpPr>
        <p:spPr>
          <a:xfrm>
            <a:off x="6232124" y="5427964"/>
            <a:ext cx="5959876" cy="65363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143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EC4F84-97E4-EB8C-0507-5A46ACC2C571}"/>
              </a:ext>
            </a:extLst>
          </p:cNvPr>
          <p:cNvSpPr txBox="1"/>
          <p:nvPr/>
        </p:nvSpPr>
        <p:spPr>
          <a:xfrm>
            <a:off x="11319163" y="100299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DE59BB-8097-A101-90CA-23DFD22A35EF}"/>
              </a:ext>
            </a:extLst>
          </p:cNvPr>
          <p:cNvSpPr txBox="1"/>
          <p:nvPr/>
        </p:nvSpPr>
        <p:spPr>
          <a:xfrm>
            <a:off x="11411896" y="299209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56A212-A4C6-B2CB-1919-2EA33477D925}"/>
              </a:ext>
            </a:extLst>
          </p:cNvPr>
          <p:cNvSpPr txBox="1"/>
          <p:nvPr/>
        </p:nvSpPr>
        <p:spPr>
          <a:xfrm>
            <a:off x="11411895" y="502614"/>
            <a:ext cx="120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/>
              <a:t>Strategy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8E9CA9-BDC3-2A04-0E43-ADD7B669297E}"/>
              </a:ext>
            </a:extLst>
          </p:cNvPr>
          <p:cNvSpPr txBox="1"/>
          <p:nvPr/>
        </p:nvSpPr>
        <p:spPr>
          <a:xfrm>
            <a:off x="11289045" y="653639"/>
            <a:ext cx="120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Impact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B44B1BE-A31C-B7F4-8E69-26A367272D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508131"/>
              </p:ext>
            </p:extLst>
          </p:nvPr>
        </p:nvGraphicFramePr>
        <p:xfrm>
          <a:off x="6256385" y="2781720"/>
          <a:ext cx="5758484" cy="1936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50188">
                  <a:extLst>
                    <a:ext uri="{9D8B030D-6E8A-4147-A177-3AD203B41FA5}">
                      <a16:colId xmlns:a16="http://schemas.microsoft.com/office/drawing/2014/main" val="3855496367"/>
                    </a:ext>
                  </a:extLst>
                </a:gridCol>
                <a:gridCol w="1059844">
                  <a:extLst>
                    <a:ext uri="{9D8B030D-6E8A-4147-A177-3AD203B41FA5}">
                      <a16:colId xmlns:a16="http://schemas.microsoft.com/office/drawing/2014/main" val="148294031"/>
                    </a:ext>
                  </a:extLst>
                </a:gridCol>
                <a:gridCol w="1448452">
                  <a:extLst>
                    <a:ext uri="{9D8B030D-6E8A-4147-A177-3AD203B41FA5}">
                      <a16:colId xmlns:a16="http://schemas.microsoft.com/office/drawing/2014/main" val="230949425"/>
                    </a:ext>
                  </a:extLst>
                </a:gridCol>
              </a:tblGrid>
              <a:tr h="38735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Daily Transactions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 €   4 500,00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 €            5 085,00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21725285"/>
                  </a:ext>
                </a:extLst>
              </a:tr>
              <a:tr h="38735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Base Daily Revenue (EUR)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€99 000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 €        111 870,00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82703697"/>
                  </a:ext>
                </a:extLst>
              </a:tr>
              <a:tr h="38735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Base Monthly Revenue (EUR)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€2 970 000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 €     3 356 100,00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64793891"/>
                  </a:ext>
                </a:extLst>
              </a:tr>
              <a:tr h="38735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Base Annual Revenue (EUR)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€36 135 000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 €  40 832 550,00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36142267"/>
                  </a:ext>
                </a:extLst>
              </a:tr>
              <a:tr h="38735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Base Annual EBITDA (EUR)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€1 152 336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 €     1 302 139,37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1552612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77DB71C-13CB-4D0C-59C9-0E7555ED2392}"/>
              </a:ext>
            </a:extLst>
          </p:cNvPr>
          <p:cNvSpPr txBox="1"/>
          <p:nvPr/>
        </p:nvSpPr>
        <p:spPr>
          <a:xfrm>
            <a:off x="5755773" y="5465824"/>
            <a:ext cx="93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10-13%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E80AD200-DEA0-0D85-BE5E-933A717CF0A6}"/>
              </a:ext>
            </a:extLst>
          </p:cNvPr>
          <p:cNvSpPr/>
          <p:nvPr/>
        </p:nvSpPr>
        <p:spPr>
          <a:xfrm rot="10800000">
            <a:off x="5167146" y="2587582"/>
            <a:ext cx="701040" cy="2949606"/>
          </a:xfrm>
          <a:prstGeom prst="downArrow">
            <a:avLst/>
          </a:prstGeom>
          <a:solidFill>
            <a:srgbClr val="006C31"/>
          </a:solidFill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CD8AA6C-7A00-2995-BDF7-CEC6E95ECC5F}"/>
              </a:ext>
            </a:extLst>
          </p:cNvPr>
          <p:cNvGrpSpPr/>
          <p:nvPr/>
        </p:nvGrpSpPr>
        <p:grpSpPr>
          <a:xfrm>
            <a:off x="574090" y="2462645"/>
            <a:ext cx="4583837" cy="3362157"/>
            <a:chOff x="130206" y="3428999"/>
            <a:chExt cx="4290873" cy="329779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D1A8861-5483-366C-34F9-89CFBEA463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0206" y="3428999"/>
              <a:ext cx="4110195" cy="3297795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247E35-5217-4428-9E40-474C85D46CB4}"/>
                </a:ext>
              </a:extLst>
            </p:cNvPr>
            <p:cNvSpPr txBox="1"/>
            <p:nvPr/>
          </p:nvSpPr>
          <p:spPr>
            <a:xfrm>
              <a:off x="3497801" y="3731994"/>
              <a:ext cx="923278" cy="301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</a:rPr>
                <a:t>1078,8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3C81A4F-E6F5-C8DD-878F-5C27011AC8AE}"/>
                </a:ext>
              </a:extLst>
            </p:cNvPr>
            <p:cNvSpPr/>
            <p:nvPr/>
          </p:nvSpPr>
          <p:spPr>
            <a:xfrm>
              <a:off x="3687109" y="4003804"/>
              <a:ext cx="272332" cy="1988624"/>
            </a:xfrm>
            <a:prstGeom prst="rect">
              <a:avLst/>
            </a:prstGeom>
            <a:solidFill>
              <a:srgbClr val="006C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43C2D6C-1BBB-001E-9FF0-6B0354395A2D}"/>
                </a:ext>
              </a:extLst>
            </p:cNvPr>
            <p:cNvSpPr/>
            <p:nvPr/>
          </p:nvSpPr>
          <p:spPr>
            <a:xfrm>
              <a:off x="2041864" y="5450889"/>
              <a:ext cx="701336" cy="36398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72009315-BE74-7A8F-DA5B-C547BB2DAE2A}"/>
              </a:ext>
            </a:extLst>
          </p:cNvPr>
          <p:cNvSpPr/>
          <p:nvPr/>
        </p:nvSpPr>
        <p:spPr>
          <a:xfrm>
            <a:off x="-221942" y="0"/>
            <a:ext cx="9756559" cy="65363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E2F3BE-7713-13D0-44A2-57C18DA2F745}"/>
              </a:ext>
            </a:extLst>
          </p:cNvPr>
          <p:cNvSpPr/>
          <p:nvPr/>
        </p:nvSpPr>
        <p:spPr>
          <a:xfrm>
            <a:off x="6791417" y="1575526"/>
            <a:ext cx="5400583" cy="65363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2AB054-B15A-E634-22C9-E1BAC6794766}"/>
              </a:ext>
            </a:extLst>
          </p:cNvPr>
          <p:cNvSpPr/>
          <p:nvPr/>
        </p:nvSpPr>
        <p:spPr>
          <a:xfrm>
            <a:off x="-92496" y="6244710"/>
            <a:ext cx="7958111" cy="65363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709C3249-544A-D03F-EBB9-A77A007E1DAF}"/>
              </a:ext>
            </a:extLst>
          </p:cNvPr>
          <p:cNvSpPr/>
          <p:nvPr/>
        </p:nvSpPr>
        <p:spPr>
          <a:xfrm rot="21113593">
            <a:off x="3204840" y="3178208"/>
            <a:ext cx="1367162" cy="685202"/>
          </a:xfrm>
          <a:custGeom>
            <a:avLst/>
            <a:gdLst>
              <a:gd name="connsiteX0" fmla="*/ 0 w 1367162"/>
              <a:gd name="connsiteY0" fmla="*/ 541538 h 795373"/>
              <a:gd name="connsiteX1" fmla="*/ 461639 w 1367162"/>
              <a:gd name="connsiteY1" fmla="*/ 781235 h 795373"/>
              <a:gd name="connsiteX2" fmla="*/ 1029810 w 1367162"/>
              <a:gd name="connsiteY2" fmla="*/ 683581 h 795373"/>
              <a:gd name="connsiteX3" fmla="*/ 1367162 w 1367162"/>
              <a:gd name="connsiteY3" fmla="*/ 0 h 795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7162" h="795373">
                <a:moveTo>
                  <a:pt x="0" y="541538"/>
                </a:moveTo>
                <a:cubicBezTo>
                  <a:pt x="145002" y="649549"/>
                  <a:pt x="290004" y="757561"/>
                  <a:pt x="461639" y="781235"/>
                </a:cubicBezTo>
                <a:cubicBezTo>
                  <a:pt x="633274" y="804909"/>
                  <a:pt x="878890" y="813787"/>
                  <a:pt x="1029810" y="683581"/>
                </a:cubicBezTo>
                <a:cubicBezTo>
                  <a:pt x="1180731" y="553375"/>
                  <a:pt x="1273946" y="276687"/>
                  <a:pt x="1367162" y="0"/>
                </a:cubicBezTo>
              </a:path>
            </a:pathLst>
          </a:custGeom>
          <a:noFill/>
          <a:ln w="76200">
            <a:solidFill>
              <a:srgbClr val="C00000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A1025A-CA73-A685-9E04-457271D40E20}"/>
              </a:ext>
            </a:extLst>
          </p:cNvPr>
          <p:cNvSpPr txBox="1"/>
          <p:nvPr/>
        </p:nvSpPr>
        <p:spPr>
          <a:xfrm>
            <a:off x="9286043" y="2462645"/>
            <a:ext cx="2480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before/after</a:t>
            </a:r>
          </a:p>
        </p:txBody>
      </p:sp>
    </p:spTree>
    <p:extLst>
      <p:ext uri="{BB962C8B-B14F-4D97-AF65-F5344CB8AC3E}">
        <p14:creationId xmlns:p14="http://schemas.microsoft.com/office/powerpoint/2010/main" val="659752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12AB598-5E6C-B5BD-D997-ED0BE73D0DDD}"/>
              </a:ext>
            </a:extLst>
          </p:cNvPr>
          <p:cNvGrpSpPr/>
          <p:nvPr/>
        </p:nvGrpSpPr>
        <p:grpSpPr>
          <a:xfrm>
            <a:off x="10035600" y="19212"/>
            <a:ext cx="2759374" cy="797692"/>
            <a:chOff x="8695897" y="614635"/>
            <a:chExt cx="2759374" cy="79769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B170A69-6552-7AF9-218D-D1CE19625826}"/>
                </a:ext>
              </a:extLst>
            </p:cNvPr>
            <p:cNvSpPr txBox="1"/>
            <p:nvPr/>
          </p:nvSpPr>
          <p:spPr>
            <a:xfrm>
              <a:off x="9417694" y="1012217"/>
              <a:ext cx="143460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2000" b="1" dirty="0"/>
                <a:t>Appendix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0F4C65A-F23C-B2FF-25D4-A9AC71F6733D}"/>
                </a:ext>
              </a:extLst>
            </p:cNvPr>
            <p:cNvSpPr txBox="1"/>
            <p:nvPr/>
          </p:nvSpPr>
          <p:spPr>
            <a:xfrm>
              <a:off x="8695897" y="617014"/>
              <a:ext cx="120594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200" b="1" dirty="0">
                  <a:solidFill>
                    <a:schemeClr val="bg1">
                      <a:lumMod val="65000"/>
                    </a:schemeClr>
                  </a:solidFill>
                </a:rPr>
                <a:t>Overview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D11BFE1-C2A2-EC80-DB44-2A4A8F098141}"/>
                </a:ext>
              </a:extLst>
            </p:cNvPr>
            <p:cNvSpPr txBox="1"/>
            <p:nvPr/>
          </p:nvSpPr>
          <p:spPr>
            <a:xfrm>
              <a:off x="9377209" y="614636"/>
              <a:ext cx="120594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200" b="1" dirty="0">
                  <a:solidFill>
                    <a:schemeClr val="bg1">
                      <a:lumMod val="65000"/>
                    </a:schemeClr>
                  </a:solidFill>
                </a:rPr>
                <a:t>Analysis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8EFFCAF-DFD8-97CD-BFC6-ED5C291DA275}"/>
                </a:ext>
              </a:extLst>
            </p:cNvPr>
            <p:cNvSpPr txBox="1"/>
            <p:nvPr/>
          </p:nvSpPr>
          <p:spPr>
            <a:xfrm>
              <a:off x="9980183" y="614635"/>
              <a:ext cx="120594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200" b="1" dirty="0">
                  <a:solidFill>
                    <a:schemeClr val="bg1">
                      <a:lumMod val="65000"/>
                    </a:schemeClr>
                  </a:solidFill>
                </a:rPr>
                <a:t>Strategy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38D50C4-512F-318C-005C-A7134F33E513}"/>
                </a:ext>
              </a:extLst>
            </p:cNvPr>
            <p:cNvSpPr txBox="1"/>
            <p:nvPr/>
          </p:nvSpPr>
          <p:spPr>
            <a:xfrm>
              <a:off x="10249322" y="828051"/>
              <a:ext cx="120594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200" b="1" dirty="0">
                  <a:solidFill>
                    <a:schemeClr val="bg1">
                      <a:lumMod val="65000"/>
                    </a:schemeClr>
                  </a:solidFill>
                </a:rPr>
                <a:t>Impact</a:t>
              </a:r>
            </a:p>
          </p:txBody>
        </p:sp>
      </p:grp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724A420-DE79-55AC-702F-E3B5AF0627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2694682"/>
              </p:ext>
            </p:extLst>
          </p:nvPr>
        </p:nvGraphicFramePr>
        <p:xfrm>
          <a:off x="310184" y="416794"/>
          <a:ext cx="5017190" cy="57189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25774">
                  <a:extLst>
                    <a:ext uri="{9D8B030D-6E8A-4147-A177-3AD203B41FA5}">
                      <a16:colId xmlns:a16="http://schemas.microsoft.com/office/drawing/2014/main" val="3035343855"/>
                    </a:ext>
                  </a:extLst>
                </a:gridCol>
                <a:gridCol w="922701">
                  <a:extLst>
                    <a:ext uri="{9D8B030D-6E8A-4147-A177-3AD203B41FA5}">
                      <a16:colId xmlns:a16="http://schemas.microsoft.com/office/drawing/2014/main" val="3078671123"/>
                    </a:ext>
                  </a:extLst>
                </a:gridCol>
                <a:gridCol w="1268715">
                  <a:extLst>
                    <a:ext uri="{9D8B030D-6E8A-4147-A177-3AD203B41FA5}">
                      <a16:colId xmlns:a16="http://schemas.microsoft.com/office/drawing/2014/main" val="2207964698"/>
                    </a:ext>
                  </a:extLst>
                </a:gridCol>
              </a:tblGrid>
              <a:tr h="272332"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ES" sz="1600" u="none" strike="noStrike">
                          <a:effectLst/>
                        </a:rPr>
                        <a:t>AUCHAN REFORMS - FINANCIAL MODEL 2025</a:t>
                      </a:r>
                      <a:endParaRPr lang="es-E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1883202"/>
                  </a:ext>
                </a:extLst>
              </a:tr>
              <a:tr h="217865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extLst>
                  <a:ext uri="{0D108BD9-81ED-4DB2-BD59-A6C34878D82A}">
                    <a16:rowId xmlns:a16="http://schemas.microsoft.com/office/drawing/2014/main" val="1596923984"/>
                  </a:ext>
                </a:extLst>
              </a:tr>
              <a:tr h="21786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BLOCK 1: Elo Group Official (2025)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extLst>
                  <a:ext uri="{0D108BD9-81ED-4DB2-BD59-A6C34878D82A}">
                    <a16:rowId xmlns:a16="http://schemas.microsoft.com/office/drawing/2014/main" val="1697809396"/>
                  </a:ext>
                </a:extLst>
              </a:tr>
              <a:tr h="21786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Group Annual Revenue (Milion EUR)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32 142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€          36 320,46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extLst>
                  <a:ext uri="{0D108BD9-81ED-4DB2-BD59-A6C34878D82A}">
                    <a16:rowId xmlns:a16="http://schemas.microsoft.com/office/drawing/2014/main" val="2930989130"/>
                  </a:ext>
                </a:extLst>
              </a:tr>
              <a:tr h="21786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Group Annual EBITDA (M EUR)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1 025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€            1 158,25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extLst>
                  <a:ext uri="{0D108BD9-81ED-4DB2-BD59-A6C34878D82A}">
                    <a16:rowId xmlns:a16="http://schemas.microsoft.com/office/drawing/2014/main" val="3823664016"/>
                  </a:ext>
                </a:extLst>
              </a:tr>
              <a:tr h="21786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Group EBITDA Margin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3,19%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€                    0,04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extLst>
                  <a:ext uri="{0D108BD9-81ED-4DB2-BD59-A6C34878D82A}">
                    <a16:rowId xmlns:a16="http://schemas.microsoft.com/office/drawing/2014/main" val="2877361391"/>
                  </a:ext>
                </a:extLst>
              </a:tr>
              <a:tr h="217865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extLst>
                  <a:ext uri="{0D108BD9-81ED-4DB2-BD59-A6C34878D82A}">
                    <a16:rowId xmlns:a16="http://schemas.microsoft.com/office/drawing/2014/main" val="1935043124"/>
                  </a:ext>
                </a:extLst>
              </a:tr>
              <a:tr h="21786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BLOCK 2: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extLst>
                  <a:ext uri="{0D108BD9-81ED-4DB2-BD59-A6C34878D82A}">
                    <a16:rowId xmlns:a16="http://schemas.microsoft.com/office/drawing/2014/main" val="477400009"/>
                  </a:ext>
                </a:extLst>
              </a:tr>
              <a:tr h="21786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Average Basket (EUR)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€22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€                  24,86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extLst>
                  <a:ext uri="{0D108BD9-81ED-4DB2-BD59-A6C34878D82A}">
                    <a16:rowId xmlns:a16="http://schemas.microsoft.com/office/drawing/2014/main" val="3334751786"/>
                  </a:ext>
                </a:extLst>
              </a:tr>
              <a:tr h="21786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Daily Transactions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€   4 500,00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€            5 085,00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extLst>
                  <a:ext uri="{0D108BD9-81ED-4DB2-BD59-A6C34878D82A}">
                    <a16:rowId xmlns:a16="http://schemas.microsoft.com/office/drawing/2014/main" val="101921373"/>
                  </a:ext>
                </a:extLst>
              </a:tr>
              <a:tr h="21786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Base Daily Revenue (EUR)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€99 000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€        111 870,00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extLst>
                  <a:ext uri="{0D108BD9-81ED-4DB2-BD59-A6C34878D82A}">
                    <a16:rowId xmlns:a16="http://schemas.microsoft.com/office/drawing/2014/main" val="2857794823"/>
                  </a:ext>
                </a:extLst>
              </a:tr>
              <a:tr h="21786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Base Monthly Revenue (EUR)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€2 970 000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€     3 356 100,00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extLst>
                  <a:ext uri="{0D108BD9-81ED-4DB2-BD59-A6C34878D82A}">
                    <a16:rowId xmlns:a16="http://schemas.microsoft.com/office/drawing/2014/main" val="685734086"/>
                  </a:ext>
                </a:extLst>
              </a:tr>
              <a:tr h="21786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Base Annual Revenue (EUR)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€36 135 000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€  40 832 550,00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extLst>
                  <a:ext uri="{0D108BD9-81ED-4DB2-BD59-A6C34878D82A}">
                    <a16:rowId xmlns:a16="http://schemas.microsoft.com/office/drawing/2014/main" val="1656915521"/>
                  </a:ext>
                </a:extLst>
              </a:tr>
              <a:tr h="21786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Base Annual EBITDA (EUR)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€1 152 336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€     1 302 139,37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extLst>
                  <a:ext uri="{0D108BD9-81ED-4DB2-BD59-A6C34878D82A}">
                    <a16:rowId xmlns:a16="http://schemas.microsoft.com/office/drawing/2014/main" val="3333050938"/>
                  </a:ext>
                </a:extLst>
              </a:tr>
              <a:tr h="217865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extLst>
                  <a:ext uri="{0D108BD9-81ED-4DB2-BD59-A6C34878D82A}">
                    <a16:rowId xmlns:a16="http://schemas.microsoft.com/office/drawing/2014/main" val="3469601200"/>
                  </a:ext>
                </a:extLst>
              </a:tr>
              <a:tr h="21786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BLOCK 3: Reform Impact &amp; ROI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extLst>
                  <a:ext uri="{0D108BD9-81ED-4DB2-BD59-A6C34878D82A}">
                    <a16:rowId xmlns:a16="http://schemas.microsoft.com/office/drawing/2014/main" val="1819841009"/>
                  </a:ext>
                </a:extLst>
              </a:tr>
              <a:tr h="21786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Incremental Monthly Transactions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24975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€          28 221,75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extLst>
                  <a:ext uri="{0D108BD9-81ED-4DB2-BD59-A6C34878D82A}">
                    <a16:rowId xmlns:a16="http://schemas.microsoft.com/office/drawing/2014/main" val="1087401513"/>
                  </a:ext>
                </a:extLst>
              </a:tr>
              <a:tr h="21786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Incremental Monthly Revenue (EUR)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€549 450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€        620 878,50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extLst>
                  <a:ext uri="{0D108BD9-81ED-4DB2-BD59-A6C34878D82A}">
                    <a16:rowId xmlns:a16="http://schemas.microsoft.com/office/drawing/2014/main" val="634206366"/>
                  </a:ext>
                </a:extLst>
              </a:tr>
              <a:tr h="21786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Incremental Annual Revenue (EUR)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€6 593 400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€     7 450 542,00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extLst>
                  <a:ext uri="{0D108BD9-81ED-4DB2-BD59-A6C34878D82A}">
                    <a16:rowId xmlns:a16="http://schemas.microsoft.com/office/drawing/2014/main" val="47826062"/>
                  </a:ext>
                </a:extLst>
              </a:tr>
              <a:tr h="21786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Incremental Daily Revenue (EUR)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€18 064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€          20 412,44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extLst>
                  <a:ext uri="{0D108BD9-81ED-4DB2-BD59-A6C34878D82A}">
                    <a16:rowId xmlns:a16="http://schemas.microsoft.com/office/drawing/2014/main" val="3744470990"/>
                  </a:ext>
                </a:extLst>
              </a:tr>
              <a:tr h="21786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Incremental EBITDA Margin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12,0%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€                    0,14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extLst>
                  <a:ext uri="{0D108BD9-81ED-4DB2-BD59-A6C34878D82A}">
                    <a16:rowId xmlns:a16="http://schemas.microsoft.com/office/drawing/2014/main" val="1233620813"/>
                  </a:ext>
                </a:extLst>
              </a:tr>
              <a:tr h="21786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Incremental Annual EBITDA (EUR)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€791 208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€        894 065,04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extLst>
                  <a:ext uri="{0D108BD9-81ED-4DB2-BD59-A6C34878D82A}">
                    <a16:rowId xmlns:a16="http://schemas.microsoft.com/office/drawing/2014/main" val="4160042565"/>
                  </a:ext>
                </a:extLst>
              </a:tr>
              <a:tr h="217865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extLst>
                  <a:ext uri="{0D108BD9-81ED-4DB2-BD59-A6C34878D82A}">
                    <a16:rowId xmlns:a16="http://schemas.microsoft.com/office/drawing/2014/main" val="3681030340"/>
                  </a:ext>
                </a:extLst>
              </a:tr>
              <a:tr h="21786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Project CAPEX (Investment EUR)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€750 000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€        847 500,00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extLst>
                  <a:ext uri="{0D108BD9-81ED-4DB2-BD59-A6C34878D82A}">
                    <a16:rowId xmlns:a16="http://schemas.microsoft.com/office/drawing/2014/main" val="4216228298"/>
                  </a:ext>
                </a:extLst>
              </a:tr>
              <a:tr h="21786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Payback Period (Months)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11,4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€                  12,85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extLst>
                  <a:ext uri="{0D108BD9-81ED-4DB2-BD59-A6C34878D82A}">
                    <a16:rowId xmlns:a16="http://schemas.microsoft.com/office/drawing/2014/main" val="2705891544"/>
                  </a:ext>
                </a:extLst>
              </a:tr>
              <a:tr h="21786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Payback Period (Years)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0,95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 €                    1,07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extLst>
                  <a:ext uri="{0D108BD9-81ED-4DB2-BD59-A6C34878D82A}">
                    <a16:rowId xmlns:a16="http://schemas.microsoft.com/office/drawing/2014/main" val="107503409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45F301E-F89B-6774-D9EC-4D79CB55E1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5166936"/>
              </p:ext>
            </p:extLst>
          </p:nvPr>
        </p:nvGraphicFramePr>
        <p:xfrm>
          <a:off x="5742449" y="4489831"/>
          <a:ext cx="5499100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3500">
                  <a:extLst>
                    <a:ext uri="{9D8B030D-6E8A-4147-A177-3AD203B41FA5}">
                      <a16:colId xmlns:a16="http://schemas.microsoft.com/office/drawing/2014/main" val="3068729928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409533013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3771494243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65890144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In € millions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2025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2024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1100" u="none" strike="noStrike">
                          <a:effectLst/>
                        </a:rPr>
                        <a:t>Δ %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3908967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Revenue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32 142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31 669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+1,5%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8298887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Gross margin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7 374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7 303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+1,0%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05588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   % revenue</a:t>
                      </a:r>
                      <a:endParaRPr lang="en-US" sz="1000" b="0" i="0" u="none" strike="noStrike">
                        <a:solidFill>
                          <a:srgbClr val="59595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u="none" strike="noStrike">
                          <a:effectLst/>
                        </a:rPr>
                        <a:t>22,9%</a:t>
                      </a:r>
                      <a:endParaRPr lang="en-US" sz="1000" b="0" i="0" u="none" strike="noStrike">
                        <a:solidFill>
                          <a:srgbClr val="59595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u="none" strike="noStrike">
                          <a:effectLst/>
                        </a:rPr>
                        <a:t>23,1%</a:t>
                      </a:r>
                      <a:endParaRPr lang="en-US" sz="1000" b="0" i="0" u="none" strike="noStrike">
                        <a:solidFill>
                          <a:srgbClr val="59595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u="none" strike="noStrike">
                          <a:effectLst/>
                        </a:rPr>
                        <a:t>-0,0 pt</a:t>
                      </a:r>
                      <a:endParaRPr lang="en-US" sz="1000" b="0" i="0" u="none" strike="noStrike">
                        <a:solidFill>
                          <a:srgbClr val="59595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0002003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Payroll expenses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-4 323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-4 294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+0,7%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709948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External expenses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-2 099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-2 155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-2,6%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481438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   % revenue</a:t>
                      </a:r>
                      <a:endParaRPr lang="en-US" sz="1000" b="0" i="0" u="none" strike="noStrike">
                        <a:solidFill>
                          <a:srgbClr val="59595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u="none" strike="noStrike">
                          <a:effectLst/>
                        </a:rPr>
                        <a:t>20,0%</a:t>
                      </a:r>
                      <a:endParaRPr lang="en-US" sz="1000" b="0" i="0" u="none" strike="noStrike">
                        <a:solidFill>
                          <a:srgbClr val="59595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u="none" strike="noStrike">
                          <a:effectLst/>
                        </a:rPr>
                        <a:t>20,4%</a:t>
                      </a:r>
                      <a:endParaRPr lang="en-US" sz="1000" b="0" i="0" u="none" strike="noStrike">
                        <a:solidFill>
                          <a:srgbClr val="59595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u="none" strike="noStrike">
                          <a:effectLst/>
                        </a:rPr>
                        <a:t>+0,0 pt</a:t>
                      </a:r>
                      <a:endParaRPr lang="en-US" sz="1000" b="0" i="0" u="none" strike="noStrike">
                        <a:solidFill>
                          <a:srgbClr val="59595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2900253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EBITDA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1 025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883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+16,1%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452969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   % revenue</a:t>
                      </a:r>
                      <a:endParaRPr lang="en-US" sz="1000" b="0" i="0" u="none" strike="noStrike">
                        <a:solidFill>
                          <a:srgbClr val="59595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u="none" strike="noStrike">
                          <a:effectLst/>
                        </a:rPr>
                        <a:t>3,2%</a:t>
                      </a:r>
                      <a:endParaRPr lang="en-US" sz="1000" b="0" i="0" u="none" strike="noStrike">
                        <a:solidFill>
                          <a:srgbClr val="59595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u="none" strike="noStrike">
                          <a:effectLst/>
                        </a:rPr>
                        <a:t>2,8%</a:t>
                      </a:r>
                      <a:endParaRPr lang="en-US" sz="1000" b="0" i="0" u="none" strike="noStrike">
                        <a:solidFill>
                          <a:srgbClr val="59595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u="none" strike="noStrike" dirty="0">
                          <a:effectLst/>
                        </a:rPr>
                        <a:t>+0,0 pt</a:t>
                      </a:r>
                      <a:endParaRPr lang="en-US" sz="1000" b="0" i="0" u="none" strike="noStrike" dirty="0">
                        <a:solidFill>
                          <a:srgbClr val="59595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4051099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23D05F8-B8B4-2902-09B3-85C1B5C22E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142453"/>
              </p:ext>
            </p:extLst>
          </p:nvPr>
        </p:nvGraphicFramePr>
        <p:xfrm>
          <a:off x="5742448" y="2598738"/>
          <a:ext cx="5499098" cy="17907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9416">
                  <a:extLst>
                    <a:ext uri="{9D8B030D-6E8A-4147-A177-3AD203B41FA5}">
                      <a16:colId xmlns:a16="http://schemas.microsoft.com/office/drawing/2014/main" val="105105972"/>
                    </a:ext>
                  </a:extLst>
                </a:gridCol>
                <a:gridCol w="548466">
                  <a:extLst>
                    <a:ext uri="{9D8B030D-6E8A-4147-A177-3AD203B41FA5}">
                      <a16:colId xmlns:a16="http://schemas.microsoft.com/office/drawing/2014/main" val="1762744911"/>
                    </a:ext>
                  </a:extLst>
                </a:gridCol>
                <a:gridCol w="548466">
                  <a:extLst>
                    <a:ext uri="{9D8B030D-6E8A-4147-A177-3AD203B41FA5}">
                      <a16:colId xmlns:a16="http://schemas.microsoft.com/office/drawing/2014/main" val="592980393"/>
                    </a:ext>
                  </a:extLst>
                </a:gridCol>
                <a:gridCol w="1443334">
                  <a:extLst>
                    <a:ext uri="{9D8B030D-6E8A-4147-A177-3AD203B41FA5}">
                      <a16:colId xmlns:a16="http://schemas.microsoft.com/office/drawing/2014/main" val="842412069"/>
                    </a:ext>
                  </a:extLst>
                </a:gridCol>
                <a:gridCol w="1479416">
                  <a:extLst>
                    <a:ext uri="{9D8B030D-6E8A-4147-A177-3AD203B41FA5}">
                      <a16:colId xmlns:a16="http://schemas.microsoft.com/office/drawing/2014/main" val="2032219799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In € millions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2023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2022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Change at current exchange rates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Change at constant exchange rates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21942936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Revenue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32902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33485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-1,7%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+0,3%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6617716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Gross profit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8082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7963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+1,5%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+3,6%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67578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Gross profit margin</a:t>
                      </a:r>
                      <a:endParaRPr lang="en-US" sz="1000" b="0" i="1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u="none" strike="noStrike">
                          <a:effectLst/>
                        </a:rPr>
                        <a:t>24,6%</a:t>
                      </a:r>
                      <a:endParaRPr lang="en-US" sz="1000" b="0" i="1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u="none" strike="noStrike">
                          <a:effectLst/>
                        </a:rPr>
                        <a:t>23,8%</a:t>
                      </a:r>
                      <a:endParaRPr lang="en-US" sz="1000" b="0" i="1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u="none" strike="noStrike">
                          <a:effectLst/>
                        </a:rPr>
                        <a:t>0.8pp</a:t>
                      </a:r>
                      <a:endParaRPr lang="en-US" sz="1000" b="0" i="1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u="none" strike="noStrike">
                          <a:effectLst/>
                        </a:rPr>
                        <a:t>0.8 pp</a:t>
                      </a:r>
                      <a:endParaRPr lang="en-US" sz="1000" b="0" i="1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604660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EBITDA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1528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1697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-10,0%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-7,3%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307026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EBITDA margin</a:t>
                      </a:r>
                      <a:endParaRPr lang="en-US" sz="1000" b="0" i="1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u="none" strike="noStrike">
                          <a:effectLst/>
                        </a:rPr>
                        <a:t>4,6%</a:t>
                      </a:r>
                      <a:endParaRPr lang="en-US" sz="1000" b="0" i="1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u="none" strike="noStrike">
                          <a:effectLst/>
                        </a:rPr>
                        <a:t>5,1%</a:t>
                      </a:r>
                      <a:endParaRPr lang="en-US" sz="1000" b="0" i="1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u="none" strike="noStrike">
                          <a:effectLst/>
                        </a:rPr>
                        <a:t>-0,4 pp</a:t>
                      </a:r>
                      <a:endParaRPr lang="en-US" sz="1000" b="0" i="1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u="none" strike="noStrike">
                          <a:effectLst/>
                        </a:rPr>
                        <a:t>0.4 pp</a:t>
                      </a:r>
                      <a:endParaRPr lang="en-US" sz="1000" b="0" i="1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81606988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Operating profit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-14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366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n.a.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n.a.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7404754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Net income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-378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42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n.a.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 dirty="0" err="1">
                          <a:effectLst/>
                        </a:rPr>
                        <a:t>n.a.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01697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80124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5A97719-0203-25D8-F44A-F588228E78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007485"/>
              </p:ext>
            </p:extLst>
          </p:nvPr>
        </p:nvGraphicFramePr>
        <p:xfrm>
          <a:off x="206833" y="2266122"/>
          <a:ext cx="5753100" cy="42718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98551">
                  <a:extLst>
                    <a:ext uri="{9D8B030D-6E8A-4147-A177-3AD203B41FA5}">
                      <a16:colId xmlns:a16="http://schemas.microsoft.com/office/drawing/2014/main" val="2960981768"/>
                    </a:ext>
                  </a:extLst>
                </a:gridCol>
                <a:gridCol w="777999">
                  <a:extLst>
                    <a:ext uri="{9D8B030D-6E8A-4147-A177-3AD203B41FA5}">
                      <a16:colId xmlns:a16="http://schemas.microsoft.com/office/drawing/2014/main" val="2007692897"/>
                    </a:ext>
                  </a:extLst>
                </a:gridCol>
                <a:gridCol w="777999">
                  <a:extLst>
                    <a:ext uri="{9D8B030D-6E8A-4147-A177-3AD203B41FA5}">
                      <a16:colId xmlns:a16="http://schemas.microsoft.com/office/drawing/2014/main" val="3955199448"/>
                    </a:ext>
                  </a:extLst>
                </a:gridCol>
                <a:gridCol w="2098551">
                  <a:extLst>
                    <a:ext uri="{9D8B030D-6E8A-4147-A177-3AD203B41FA5}">
                      <a16:colId xmlns:a16="http://schemas.microsoft.com/office/drawing/2014/main" val="2982462439"/>
                    </a:ext>
                  </a:extLst>
                </a:gridCol>
              </a:tblGrid>
              <a:tr h="58633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In millions of euros</a:t>
                      </a:r>
                      <a:br>
                        <a:rPr lang="en-US" sz="1100" u="none" strike="noStrike">
                          <a:effectLst/>
                        </a:rPr>
                      </a:br>
                      <a:r>
                        <a:rPr lang="en-US" sz="1100" u="none" strike="noStrike">
                          <a:effectLst/>
                        </a:rPr>
                        <a:t>Excluding Auchan Hungary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2024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2023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Change at constant exchange rates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85231964"/>
                  </a:ext>
                </a:extLst>
              </a:tr>
              <a:tr h="29316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Revenues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32290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31776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+2,1 %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58044659"/>
                  </a:ext>
                </a:extLst>
              </a:tr>
              <a:tr h="29316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Gross profit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7907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7818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+2,0 %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00845958"/>
                  </a:ext>
                </a:extLst>
              </a:tr>
              <a:tr h="26175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Gross profit margin</a:t>
                      </a:r>
                      <a:endParaRPr lang="en-US" sz="1000" b="0" i="1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u="none" strike="noStrike">
                          <a:effectLst/>
                        </a:rPr>
                        <a:t>24,5%</a:t>
                      </a:r>
                      <a:endParaRPr lang="en-US" sz="1000" b="0" i="1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u="none" strike="noStrike">
                          <a:effectLst/>
                        </a:rPr>
                        <a:t>24,6%</a:t>
                      </a:r>
                      <a:endParaRPr lang="en-US" sz="1000" b="0" i="1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u="none" strike="noStrike">
                          <a:effectLst/>
                        </a:rPr>
                        <a:t>0,0 pt</a:t>
                      </a:r>
                      <a:endParaRPr lang="en-US" sz="1000" b="0" i="1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69473235"/>
                  </a:ext>
                </a:extLst>
              </a:tr>
              <a:tr h="29316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EBITDA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1224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1472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-16,8 %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81161748"/>
                  </a:ext>
                </a:extLst>
              </a:tr>
              <a:tr h="26175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EBITDA margin</a:t>
                      </a:r>
                      <a:endParaRPr lang="en-US" sz="1000" b="0" i="1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u="none" strike="noStrike">
                          <a:effectLst/>
                        </a:rPr>
                        <a:t>3,8%</a:t>
                      </a:r>
                      <a:endParaRPr lang="en-US" sz="1000" b="0" i="1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u="none" strike="noStrike">
                          <a:effectLst/>
                        </a:rPr>
                        <a:t>4,6%</a:t>
                      </a:r>
                      <a:endParaRPr lang="en-US" sz="1000" b="0" i="1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u="none" strike="noStrike">
                          <a:effectLst/>
                        </a:rPr>
                        <a:t>0,0 pt</a:t>
                      </a:r>
                      <a:endParaRPr lang="en-US" sz="1000" b="0" i="1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2242015"/>
                  </a:ext>
                </a:extLst>
              </a:tr>
              <a:tr h="29316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Other operating income/expenses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-868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-382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n.a.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15431575"/>
                  </a:ext>
                </a:extLst>
              </a:tr>
              <a:tr h="29316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Operating profit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-846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-40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n.a.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32788840"/>
                  </a:ext>
                </a:extLst>
              </a:tr>
              <a:tr h="29316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Net income/loss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-1223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-378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n.a.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56901453"/>
                  </a:ext>
                </a:extLst>
              </a:tr>
              <a:tr h="29316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Adjusted net income/loss³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-92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44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n.a.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5495373"/>
                  </a:ext>
                </a:extLst>
              </a:tr>
              <a:tr h="29316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Free cash flow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-224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n.a.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21527083"/>
                  </a:ext>
                </a:extLst>
              </a:tr>
              <a:tr h="293165">
                <a:tc>
                  <a:txBody>
                    <a:bodyPr/>
                    <a:lstStyle/>
                    <a:p>
                      <a:pPr algn="l" fontAlgn="ctr"/>
                      <a:r>
                        <a:rPr lang="da-DK" sz="1100" u="none" strike="noStrike">
                          <a:effectLst/>
                        </a:rPr>
                        <a:t>Net financial debt at 31 December</a:t>
                      </a:r>
                      <a:endParaRPr lang="da-DK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2921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2917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09309833"/>
                  </a:ext>
                </a:extLst>
              </a:tr>
              <a:tr h="26175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   o/w Auchan Retail</a:t>
                      </a:r>
                      <a:endParaRPr lang="en-US" sz="1000" b="0" i="1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u="none" strike="noStrike">
                          <a:effectLst/>
                        </a:rPr>
                        <a:t>6</a:t>
                      </a:r>
                      <a:endParaRPr lang="en-US" sz="1000" b="0" i="1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u="none" strike="noStrike">
                          <a:effectLst/>
                        </a:rPr>
                        <a:t>-367</a:t>
                      </a:r>
                      <a:endParaRPr lang="en-US" sz="1000" b="0" i="1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n.a.</a:t>
                      </a:r>
                      <a:endParaRPr lang="en-US" sz="1000" b="0" i="1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32241417"/>
                  </a:ext>
                </a:extLst>
              </a:tr>
              <a:tr h="26175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   o/w New Immo Holding</a:t>
                      </a:r>
                      <a:endParaRPr lang="en-US" sz="1000" b="0" i="1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u="none" strike="noStrike">
                          <a:effectLst/>
                        </a:rPr>
                        <a:t>2905</a:t>
                      </a:r>
                      <a:endParaRPr lang="en-US" sz="1000" b="0" i="1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u="none" strike="noStrike">
                          <a:effectLst/>
                        </a:rPr>
                        <a:t>3321</a:t>
                      </a:r>
                      <a:endParaRPr lang="en-US" sz="1000" b="0" i="1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u="none" strike="noStrike" dirty="0">
                          <a:effectLst/>
                        </a:rPr>
                        <a:t> </a:t>
                      </a:r>
                      <a:endParaRPr lang="en-US" sz="1000" b="0" i="1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2894152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12DDEE1-CBB3-4F63-0239-65685124FD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747994"/>
              </p:ext>
            </p:extLst>
          </p:nvPr>
        </p:nvGraphicFramePr>
        <p:xfrm>
          <a:off x="6232067" y="320042"/>
          <a:ext cx="5753100" cy="3169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3058900516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922634294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604971807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364544672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692920909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Country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Hypermarkets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Supermarkets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Convenience stores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Digital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31019206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France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145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273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203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0554658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Spain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80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271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49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32113429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Portugal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31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238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36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3488694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Luxembourg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8498281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Poland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70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30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3072328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Hungary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19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1270407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Romania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33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398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100580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Ukraine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17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1398257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Russia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94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137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57524728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Senegal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30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12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6414502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Ivory Coast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6510109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TOTAL</a:t>
                      </a:r>
                      <a:endParaRPr lang="en-US" sz="1200" b="1" i="0" u="none" strike="noStrike">
                        <a:solidFill>
                          <a:srgbClr val="1F4E78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493</a:t>
                      </a:r>
                      <a:endParaRPr lang="en-US" sz="1200" b="1" i="0" u="none" strike="noStrike">
                        <a:solidFill>
                          <a:srgbClr val="1F4E78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771</a:t>
                      </a:r>
                      <a:endParaRPr lang="en-US" sz="1200" b="1" i="0" u="none" strike="noStrike">
                        <a:solidFill>
                          <a:srgbClr val="1F4E78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</a:rPr>
                        <a:t>732</a:t>
                      </a:r>
                      <a:endParaRPr lang="en-US" sz="1200" b="1" i="0" u="none" strike="noStrike">
                        <a:solidFill>
                          <a:srgbClr val="1F4E78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 dirty="0">
                          <a:effectLst/>
                        </a:rPr>
                        <a:t>250</a:t>
                      </a:r>
                      <a:endParaRPr lang="en-US" sz="1200" b="1" i="0" u="none" strike="noStrike" dirty="0">
                        <a:solidFill>
                          <a:srgbClr val="1F4E78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86956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53699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7D73E5-9798-3CED-543E-9EAAE2AB1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640"/>
            <a:ext cx="6334540" cy="69252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93F1E0-8588-C1CD-815C-2003DAF13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659" y="-1"/>
            <a:ext cx="5776341" cy="32865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1730EF-3FD4-1FC3-009D-7B86E8587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4296" y="3357056"/>
            <a:ext cx="5736865" cy="347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5278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5BE5693-E3AF-58E3-B198-271A26A334DA}"/>
              </a:ext>
            </a:extLst>
          </p:cNvPr>
          <p:cNvSpPr txBox="1"/>
          <p:nvPr/>
        </p:nvSpPr>
        <p:spPr>
          <a:xfrm>
            <a:off x="503582" y="987287"/>
            <a:ext cx="12006469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1" dirty="0">
                <a:solidFill>
                  <a:schemeClr val="tx1">
                    <a:alpha val="40000"/>
                  </a:schemeClr>
                </a:solidFill>
              </a:rPr>
              <a:t>OIKOS8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0AA437-E534-4A61-3DE5-551C13412959}"/>
              </a:ext>
            </a:extLst>
          </p:cNvPr>
          <p:cNvSpPr txBox="1"/>
          <p:nvPr/>
        </p:nvSpPr>
        <p:spPr>
          <a:xfrm>
            <a:off x="1636642" y="3616249"/>
            <a:ext cx="12006469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1" dirty="0">
                <a:solidFill>
                  <a:schemeClr val="tx1">
                    <a:alpha val="40000"/>
                  </a:schemeClr>
                </a:solidFill>
              </a:rPr>
              <a:t>OIKOS8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A1E4BE-C74A-FF61-1B9E-2097F29D6D93}"/>
              </a:ext>
            </a:extLst>
          </p:cNvPr>
          <p:cNvSpPr txBox="1"/>
          <p:nvPr/>
        </p:nvSpPr>
        <p:spPr>
          <a:xfrm>
            <a:off x="1159564" y="2537792"/>
            <a:ext cx="12006469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1" dirty="0">
                <a:solidFill>
                  <a:schemeClr val="tx1">
                    <a:alpha val="40000"/>
                  </a:schemeClr>
                </a:solidFill>
              </a:rPr>
              <a:t>OIKOS8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29E949-BDA5-DD68-1792-E9673A5143D7}"/>
              </a:ext>
            </a:extLst>
          </p:cNvPr>
          <p:cNvSpPr txBox="1"/>
          <p:nvPr/>
        </p:nvSpPr>
        <p:spPr>
          <a:xfrm>
            <a:off x="0" y="212052"/>
            <a:ext cx="12365937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alpha val="20000"/>
                  </a:schemeClr>
                </a:solidFill>
              </a:rPr>
              <a:t>OIKOS-Fx-OIKOS-Fx-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</a:t>
            </a:r>
          </a:p>
          <a:p>
            <a:r>
              <a:rPr lang="en-US" sz="1200" dirty="0">
                <a:solidFill>
                  <a:schemeClr val="tx1">
                    <a:alpha val="20000"/>
                  </a:schemeClr>
                </a:solidFill>
              </a:rPr>
              <a:t>OIKOS-Fx-OIKOS-Fx-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</a:t>
            </a:r>
          </a:p>
          <a:p>
            <a:endParaRPr lang="en-US" sz="1200" dirty="0">
              <a:solidFill>
                <a:schemeClr val="tx1">
                  <a:alpha val="20000"/>
                </a:schemeClr>
              </a:solidFill>
            </a:endParaRPr>
          </a:p>
          <a:p>
            <a:endParaRPr lang="en-US" sz="1200" dirty="0">
              <a:solidFill>
                <a:schemeClr val="tx1">
                  <a:alpha val="20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BAAD66-5212-01E9-E5FF-B6DB8BAFD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7947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D371AD0-79C8-F297-7863-570FC184FB95}"/>
              </a:ext>
            </a:extLst>
          </p:cNvPr>
          <p:cNvSpPr txBox="1"/>
          <p:nvPr/>
        </p:nvSpPr>
        <p:spPr>
          <a:xfrm>
            <a:off x="503582" y="987287"/>
            <a:ext cx="12006469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1" dirty="0">
                <a:solidFill>
                  <a:schemeClr val="tx1">
                    <a:alpha val="56000"/>
                  </a:schemeClr>
                </a:solidFill>
              </a:rPr>
              <a:t>OIKOS8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3D1C3A-E1B2-4C65-6926-44BFA4AC10BF}"/>
              </a:ext>
            </a:extLst>
          </p:cNvPr>
          <p:cNvSpPr txBox="1"/>
          <p:nvPr/>
        </p:nvSpPr>
        <p:spPr>
          <a:xfrm>
            <a:off x="1636642" y="3616249"/>
            <a:ext cx="12006469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1" dirty="0">
                <a:solidFill>
                  <a:schemeClr val="tx1">
                    <a:alpha val="56000"/>
                  </a:schemeClr>
                </a:solidFill>
              </a:rPr>
              <a:t>OIKOS8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742EFD-8850-A910-E5B2-9CA9B71D89B9}"/>
              </a:ext>
            </a:extLst>
          </p:cNvPr>
          <p:cNvSpPr txBox="1"/>
          <p:nvPr/>
        </p:nvSpPr>
        <p:spPr>
          <a:xfrm>
            <a:off x="1159564" y="2537792"/>
            <a:ext cx="12006469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1" dirty="0">
                <a:solidFill>
                  <a:schemeClr val="tx1">
                    <a:alpha val="56000"/>
                  </a:schemeClr>
                </a:solidFill>
              </a:rPr>
              <a:t>OIKOS8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0247E2-ACFF-0FCC-6C31-983DDF011031}"/>
              </a:ext>
            </a:extLst>
          </p:cNvPr>
          <p:cNvSpPr txBox="1"/>
          <p:nvPr/>
        </p:nvSpPr>
        <p:spPr>
          <a:xfrm>
            <a:off x="0" y="212052"/>
            <a:ext cx="12365937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alpha val="20000"/>
                  </a:schemeClr>
                </a:solidFill>
              </a:rPr>
              <a:t>OIKOS-Fx-OIKOS-Fx-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</a:t>
            </a:r>
          </a:p>
          <a:p>
            <a:r>
              <a:rPr lang="en-US" sz="1200" dirty="0">
                <a:solidFill>
                  <a:schemeClr val="tx1">
                    <a:alpha val="20000"/>
                  </a:schemeClr>
                </a:solidFill>
              </a:rPr>
              <a:t>OIKOS-Fx-OIKOS-Fx-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OIKOS-Fx</a:t>
            </a:r>
          </a:p>
          <a:p>
            <a:endParaRPr lang="en-US" sz="1200" dirty="0">
              <a:solidFill>
                <a:schemeClr val="tx1">
                  <a:alpha val="20000"/>
                </a:schemeClr>
              </a:solidFill>
            </a:endParaRPr>
          </a:p>
          <a:p>
            <a:endParaRPr lang="en-US" sz="1200" dirty="0">
              <a:solidFill>
                <a:schemeClr val="tx1">
                  <a:alpha val="20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81FC61-569E-B634-3326-D883CBAA6B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713947" y="-1711739"/>
            <a:ext cx="6855791" cy="1028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216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EE78614-7B6D-E103-A950-EC02ED56B3B1}"/>
              </a:ext>
            </a:extLst>
          </p:cNvPr>
          <p:cNvSpPr txBox="1"/>
          <p:nvPr/>
        </p:nvSpPr>
        <p:spPr>
          <a:xfrm>
            <a:off x="503582" y="987287"/>
            <a:ext cx="12006469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1" dirty="0">
                <a:solidFill>
                  <a:schemeClr val="tx1">
                    <a:alpha val="56000"/>
                  </a:schemeClr>
                </a:solidFill>
              </a:rPr>
              <a:t>OIKOS8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1EEEB2-82E8-E340-E577-BD2E132EA68E}"/>
              </a:ext>
            </a:extLst>
          </p:cNvPr>
          <p:cNvSpPr txBox="1"/>
          <p:nvPr/>
        </p:nvSpPr>
        <p:spPr>
          <a:xfrm>
            <a:off x="1636642" y="3616249"/>
            <a:ext cx="12006469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1" dirty="0">
                <a:solidFill>
                  <a:schemeClr val="tx1">
                    <a:alpha val="56000"/>
                  </a:schemeClr>
                </a:solidFill>
              </a:rPr>
              <a:t>OIKOS8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E6049A-EEB2-40DE-3B45-3EC353D613F7}"/>
              </a:ext>
            </a:extLst>
          </p:cNvPr>
          <p:cNvSpPr txBox="1"/>
          <p:nvPr/>
        </p:nvSpPr>
        <p:spPr>
          <a:xfrm>
            <a:off x="1159564" y="2537792"/>
            <a:ext cx="12006469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1" dirty="0">
                <a:solidFill>
                  <a:schemeClr val="tx1">
                    <a:alpha val="56000"/>
                  </a:schemeClr>
                </a:solidFill>
              </a:rPr>
              <a:t>OIKOS8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908B2CD-76F8-24EE-255A-EF07C67B9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761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708</TotalTime>
  <Words>1649</Words>
  <Application>Microsoft Office PowerPoint</Application>
  <PresentationFormat>Widescreen</PresentationFormat>
  <Paragraphs>593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Arial</vt:lpstr>
      <vt:lpstr>Ashot Erkat U</vt:lpstr>
      <vt:lpstr>Bahnschrift</vt:lpstr>
      <vt:lpstr>Calibri</vt:lpstr>
      <vt:lpstr>Calibri Light</vt:lpstr>
      <vt:lpstr>Segoe UI</vt:lpstr>
      <vt:lpstr>Sylfaen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Feliks Khangeldyan</dc:creator>
  <cp:lastModifiedBy>Feliks Khangeldyan</cp:lastModifiedBy>
  <cp:revision>40</cp:revision>
  <dcterms:created xsi:type="dcterms:W3CDTF">2026-06-06T11:44:50Z</dcterms:created>
  <dcterms:modified xsi:type="dcterms:W3CDTF">2026-06-08T11:44:41Z</dcterms:modified>
</cp:coreProperties>
</file>